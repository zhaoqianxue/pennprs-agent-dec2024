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6" r:id="rId2"/>
    <p:sldId id="256" r:id="rId3"/>
    <p:sldId id="257" r:id="rId4"/>
    <p:sldId id="258" r:id="rId5"/>
    <p:sldId id="259" r:id="rId6"/>
    <p:sldId id="263" r:id="rId7"/>
    <p:sldId id="260" r:id="rId8"/>
    <p:sldId id="261" r:id="rId9"/>
    <p:sldId id="262" r:id="rId10"/>
    <p:sldId id="267" r:id="rId11"/>
    <p:sldId id="264" r:id="rId12"/>
    <p:sldId id="265" r:id="rId13"/>
    <p:sldId id="269" r:id="rId14"/>
    <p:sldId id="270" r:id="rId15"/>
    <p:sldId id="272" r:id="rId16"/>
    <p:sldId id="273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6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4" autoAdjust="0"/>
    <p:restoredTop sz="94737"/>
  </p:normalViewPr>
  <p:slideViewPr>
    <p:cSldViewPr snapToGrid="0">
      <p:cViewPr varScale="1">
        <p:scale>
          <a:sx n="132" d="100"/>
          <a:sy n="132" d="100"/>
        </p:scale>
        <p:origin x="1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B2129-9EB1-4971-A283-D3CE7D84ABB3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CA2200-156B-4017-96FD-0CACFE3D05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509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CA2200-156B-4017-96FD-0CACFE3D059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57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5BD1F6-3C96-439B-9745-4A58332FE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D3830D-11F3-8A55-CF27-D24C692F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4219A9-4787-0274-11C9-9006825B6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6D26A3-0BB2-69D0-66E8-0895DFD6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AE125-90A1-ECB1-DF9C-E18C7595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14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0A618-8FD7-4E34-2E35-57C3643C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950F8-33C3-9F94-7106-4ECDA64A9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9887B4-48B0-A26C-6335-653AF02D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6980A7-D6DF-C79B-2263-AD1B4B40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7D60E-5525-2B60-98EB-0D66CB32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54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54965-5E16-5060-29EA-565B9386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AB783F-21FC-D97A-64A5-FAF5430F5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A503B2-839A-0F2F-A1A0-032CDEA1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069D9B-1D05-7060-4C2C-6861B401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994CDF-4412-16C8-3478-5113EA43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3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A0669-7BFA-F34A-31A5-6A52BC03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F590E-2B4E-8158-E401-8EBF133B30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7278B-F895-AA83-14E3-42F73515D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895E9-8C0D-BD9A-C23E-E4081757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93B57F-7311-D110-BD3A-C482F1B6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8968E-63E8-B1A8-C78C-4A67BF64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29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76B84-4C94-A136-0E3D-D20FDF1C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A90504-0C43-D22A-C7F7-EA86F30AD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3A27C2-3DA7-F0B5-96CE-7EB93E72F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7084E7-E43C-BBAF-F32F-9FBBF5450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B4D166-1A56-A7C4-F683-0B665CFD2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D23A80-4478-4FF4-6AB0-7CCAB9FE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F79F53-BD06-0CE2-59CA-31C0138B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5F8275-A454-E5E8-B9CB-11A031B8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54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BC877-CAC4-B117-C826-1D404F6F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D23E53-FD30-B046-57E2-9BA4C5704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BA9300-E8AC-64F6-920B-6899EDA3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077226-6C19-7645-E867-6E9DEE793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1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DE6F79-4400-162C-D4BB-D565AB986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712E01-2486-D80D-A1A1-8D1E84DB2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28534-3E14-6317-682F-9C49E872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37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13DA9-AEFA-E8A5-8604-26A21EEDC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BD287-F840-2EB8-B6BE-963AB3EC0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BFF8DB-DC39-2801-F34E-BA73BAC60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A7EF8-BDA4-D9F8-7EE3-98F879AE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FB3C2D-76DC-8240-49E7-85E2E072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89BD7-C1F6-3974-A416-6A5FA26A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892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26A6F-ABD7-CCC2-9B46-55DB8F8C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F671A9-EFD1-4F6A-CEC5-2C4E4F8C4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E3A392-F09C-024F-84C0-94FE5D1A8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D6196C-591F-0827-F062-B3F4A56C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6B3213-1398-8F24-CC3D-947BD3ECC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7A7B98-5C36-8FB6-5334-BE3C3998A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3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062C4-B4C2-4C5E-08A2-55BC6091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042282-D585-DF6C-E9D1-B689CEA7A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05072F-517B-1462-C141-E217FD21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21C04-5589-7AD0-5E6F-650C7871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44BE13-4100-0BB5-852E-1A2D7875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79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41E1D8E-5057-AEBD-CF52-E595C101D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D3A261-44FC-65EC-DD7F-38FDAA6CE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F33918-C08E-7EEB-3B4A-72E9ADF9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60627-BCEA-562D-9760-D87A3F0B0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2F993-B7B1-729B-D493-ABF7FE99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34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9EAFA3-8C70-9442-3D83-AB47237C8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A6A3B4-59C4-B5FF-3747-D569053F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8CED7-823F-3FDD-55CD-B02020A09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A4C02-C532-4D59-AED6-3D5644FC6644}" type="datetimeFigureOut">
              <a:rPr lang="zh-CN" altLang="en-US" smtClean="0"/>
              <a:t>2026/2/26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9398EF-F52A-EB4E-F916-4D2DF2A12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F26438-135A-3964-CCC3-822F745E3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3C57B-35AB-4BA6-A1C8-B48B8C1810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84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ftp.ebi.ac.uk/pub/databases/spot/pgs/resource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77A89F-29A7-719F-6C55-46D8CB384F2A}"/>
              </a:ext>
            </a:extLst>
          </p:cNvPr>
          <p:cNvSpPr txBox="1"/>
          <p:nvPr/>
        </p:nvSpPr>
        <p:spPr>
          <a:xfrm>
            <a:off x="862219" y="244264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Result</a:t>
            </a:r>
          </a:p>
        </p:txBody>
      </p:sp>
    </p:spTree>
    <p:extLst>
      <p:ext uri="{BB962C8B-B14F-4D97-AF65-F5344CB8AC3E}">
        <p14:creationId xmlns:p14="http://schemas.microsoft.com/office/powerpoint/2010/main" val="137997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80D6491-FD08-D51F-3B9E-81D0028DA4A7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C8FAD2-752F-85F2-F5D2-B704B4BA757A}"/>
              </a:ext>
            </a:extLst>
          </p:cNvPr>
          <p:cNvSpPr txBox="1"/>
          <p:nvPr/>
        </p:nvSpPr>
        <p:spPr>
          <a:xfrm>
            <a:off x="363894" y="1278293"/>
            <a:ext cx="5896947" cy="337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On my local PC: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Manually select 25 traits (identified by ICD10CM IDs).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For each trait, search by PGS catalog API, retrieve all PGS IDs.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For each PGS ID, search by PGS catalog API, filter by European ancestry, and get the corresponding URL with hmPOS_GRCh38. (838 PGS)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38F330-9944-6B42-BA6F-B826A50F2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841" y="1278293"/>
            <a:ext cx="5677692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04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DDFCBB5-30D3-0F21-0A68-61102D3197D5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evaluation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82EFE2-C84C-B25B-DE7F-DFD0A557D859}"/>
              </a:ext>
            </a:extLst>
          </p:cNvPr>
          <p:cNvSpPr txBox="1"/>
          <p:nvPr/>
        </p:nvSpPr>
        <p:spPr>
          <a:xfrm>
            <a:off x="363893" y="1278293"/>
            <a:ext cx="9405258" cy="2543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On All of Us workbench (Google Cloud Platform, GCP):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Download, unzip, and prepare .score file for all PGS. (431 PGS)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Push .score file to Google Cloud Bucket.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Compute PGS score with multi-thread PLINK2 (16 thread, 3h 20min) (421 PGS)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b="1" dirty="0"/>
              <a:t>Prepare a binary outcome for the 25 traits, push to cloud.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b="1" dirty="0"/>
              <a:t>Compute AUC trait by trait (1 thread, 5 min)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FD7E550-FD9D-6BD5-EB37-75DCC35AC644}"/>
              </a:ext>
            </a:extLst>
          </p:cNvPr>
          <p:cNvCxnSpPr>
            <a:cxnSpLocks/>
          </p:cNvCxnSpPr>
          <p:nvPr/>
        </p:nvCxnSpPr>
        <p:spPr>
          <a:xfrm flipV="1">
            <a:off x="6781448" y="2276669"/>
            <a:ext cx="0" cy="2171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C442E96-6A85-BFD2-DA09-CA300C817727}"/>
              </a:ext>
            </a:extLst>
          </p:cNvPr>
          <p:cNvSpPr txBox="1"/>
          <p:nvPr/>
        </p:nvSpPr>
        <p:spPr>
          <a:xfrm>
            <a:off x="4573556" y="4446411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Directly compute if in </a:t>
            </a:r>
            <a:r>
              <a:rPr lang="en-US" altLang="zh-CN" b="1" dirty="0" err="1">
                <a:solidFill>
                  <a:srgbClr val="FF0000"/>
                </a:solidFill>
              </a:rPr>
              <a:t>rsid</a:t>
            </a:r>
            <a:r>
              <a:rPr lang="en-US" altLang="zh-CN" b="1" dirty="0">
                <a:solidFill>
                  <a:srgbClr val="FF0000"/>
                </a:solidFill>
              </a:rPr>
              <a:t>. Dropped if in chromosome number &amp; loc. 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7D72099-CE13-6E5C-6F0D-2FDBC3FC3CBD}"/>
              </a:ext>
            </a:extLst>
          </p:cNvPr>
          <p:cNvCxnSpPr>
            <a:cxnSpLocks/>
          </p:cNvCxnSpPr>
          <p:nvPr/>
        </p:nvCxnSpPr>
        <p:spPr>
          <a:xfrm flipH="1" flipV="1">
            <a:off x="8500187" y="2973001"/>
            <a:ext cx="33517" cy="2396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623BA157-7AF0-115D-B12C-C01EC462FCC4}"/>
              </a:ext>
            </a:extLst>
          </p:cNvPr>
          <p:cNvSpPr txBox="1"/>
          <p:nvPr/>
        </p:nvSpPr>
        <p:spPr>
          <a:xfrm>
            <a:off x="6883744" y="5516133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Dropped if none of the </a:t>
            </a:r>
            <a:r>
              <a:rPr lang="en-US" altLang="zh-CN" b="1" dirty="0" err="1">
                <a:solidFill>
                  <a:srgbClr val="FF0000"/>
                </a:solidFill>
              </a:rPr>
              <a:t>rsid</a:t>
            </a:r>
            <a:r>
              <a:rPr lang="en-US" altLang="zh-CN" b="1" dirty="0">
                <a:solidFill>
                  <a:srgbClr val="FF0000"/>
                </a:solidFill>
              </a:rPr>
              <a:t> in PGS is provided in All of Us </a:t>
            </a:r>
            <a:r>
              <a:rPr lang="en-US" altLang="zh-CN" b="1" dirty="0" err="1">
                <a:solidFill>
                  <a:srgbClr val="FF0000"/>
                </a:solidFill>
              </a:rPr>
              <a:t>srWGS</a:t>
            </a:r>
            <a:r>
              <a:rPr lang="en-US" altLang="zh-CN" b="1" dirty="0">
                <a:solidFill>
                  <a:srgbClr val="FF0000"/>
                </a:solidFill>
              </a:rPr>
              <a:t>.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EAFCAA-8839-1AEF-A011-E07598D17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536" y="587524"/>
            <a:ext cx="1762371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8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E9141A3-0806-0C9E-F9FF-ED4EE3748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1865"/>
            <a:ext cx="12192000" cy="275426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0DC4564-96E1-B34C-8B75-827D6BA057FC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81362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F406-443C-5DE6-107B-1FE5F59B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E385ED6-8D97-C994-4F98-52E54238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326" y="0"/>
            <a:ext cx="7868817" cy="68454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1DBEA84-7610-F571-3B68-8B41C195698D}"/>
              </a:ext>
            </a:extLst>
          </p:cNvPr>
          <p:cNvSpPr txBox="1"/>
          <p:nvPr/>
        </p:nvSpPr>
        <p:spPr>
          <a:xfrm>
            <a:off x="317240" y="541176"/>
            <a:ext cx="256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Avg PRS Performance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0874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08F37B-7390-E03F-2C0E-A72C762DA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368" y="38263"/>
            <a:ext cx="4166930" cy="67814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9B3870-962A-1348-B958-C473AA5A9C35}"/>
              </a:ext>
            </a:extLst>
          </p:cNvPr>
          <p:cNvSpPr txBox="1"/>
          <p:nvPr/>
        </p:nvSpPr>
        <p:spPr>
          <a:xfrm>
            <a:off x="279918" y="214605"/>
            <a:ext cx="3582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Best performing PRS for each trait and corresponding AUC</a:t>
            </a:r>
          </a:p>
        </p:txBody>
      </p:sp>
    </p:spTree>
    <p:extLst>
      <p:ext uri="{BB962C8B-B14F-4D97-AF65-F5344CB8AC3E}">
        <p14:creationId xmlns:p14="http://schemas.microsoft.com/office/powerpoint/2010/main" val="106111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02CBD49-84DD-CEF0-D03B-1E2D8EE19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747" y="0"/>
            <a:ext cx="8581983" cy="6858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A14BD91-6EA2-CA3B-5845-1797D377103E}"/>
              </a:ext>
            </a:extLst>
          </p:cNvPr>
          <p:cNvSpPr txBox="1"/>
          <p:nvPr/>
        </p:nvSpPr>
        <p:spPr>
          <a:xfrm>
            <a:off x="279919" y="214605"/>
            <a:ext cx="2873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Top 50 PRS Performance</a:t>
            </a:r>
            <a:r>
              <a:rPr lang="zh-CN" altLang="en-US" b="1" dirty="0"/>
              <a:t> </a:t>
            </a:r>
            <a:r>
              <a:rPr lang="en-US" altLang="zh-CN" b="1" dirty="0"/>
              <a:t>for each trait </a:t>
            </a:r>
          </a:p>
          <a:p>
            <a:r>
              <a:rPr lang="en-US" altLang="zh-CN" b="1" dirty="0"/>
              <a:t>(Normalized to the best performing PRS)</a:t>
            </a:r>
          </a:p>
          <a:p>
            <a:r>
              <a:rPr lang="en-US" altLang="zh-CN" b="1" dirty="0"/>
              <a:t>And the percentage of self-PRS contained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454FDB-C317-8254-9E30-11DF83223FC6}"/>
              </a:ext>
            </a:extLst>
          </p:cNvPr>
          <p:cNvSpPr txBox="1"/>
          <p:nvPr/>
        </p:nvSpPr>
        <p:spPr>
          <a:xfrm>
            <a:off x="1569411" y="5698284"/>
            <a:ext cx="1439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Crohn's disease</a:t>
            </a:r>
          </a:p>
        </p:txBody>
      </p:sp>
    </p:spTree>
    <p:extLst>
      <p:ext uri="{BB962C8B-B14F-4D97-AF65-F5344CB8AC3E}">
        <p14:creationId xmlns:p14="http://schemas.microsoft.com/office/powerpoint/2010/main" val="316933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AC704E3-5D53-5054-1D2F-2050E7E5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813" y="0"/>
            <a:ext cx="7778187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7A8DE2-D4CC-8852-D6D3-CFA107E9D96B}"/>
              </a:ext>
            </a:extLst>
          </p:cNvPr>
          <p:cNvSpPr txBox="1"/>
          <p:nvPr/>
        </p:nvSpPr>
        <p:spPr>
          <a:xfrm>
            <a:off x="279919" y="214605"/>
            <a:ext cx="4273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Top 50 PRS set overlap between traits</a:t>
            </a:r>
          </a:p>
          <a:p>
            <a:r>
              <a:rPr lang="en-US" altLang="zh-CN" b="1" dirty="0"/>
              <a:t>(Jaccard Index)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2E4015-FE7E-81F9-0F3E-619D0F3AA5BA}"/>
              </a:ext>
            </a:extLst>
          </p:cNvPr>
          <p:cNvSpPr/>
          <p:nvPr/>
        </p:nvSpPr>
        <p:spPr>
          <a:xfrm>
            <a:off x="6096000" y="1178768"/>
            <a:ext cx="1946988" cy="1937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4551D6-FD5B-A28A-8862-ABCE40BCF802}"/>
              </a:ext>
            </a:extLst>
          </p:cNvPr>
          <p:cNvSpPr/>
          <p:nvPr/>
        </p:nvSpPr>
        <p:spPr>
          <a:xfrm>
            <a:off x="8403772" y="3429000"/>
            <a:ext cx="796212" cy="835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8B09C1-EE32-F5BE-A153-44F42320C73F}"/>
              </a:ext>
            </a:extLst>
          </p:cNvPr>
          <p:cNvSpPr/>
          <p:nvPr/>
        </p:nvSpPr>
        <p:spPr>
          <a:xfrm>
            <a:off x="9097348" y="4141237"/>
            <a:ext cx="796212" cy="8350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6DCFFD-4AEA-6A38-689A-A03A1CF43F50}"/>
              </a:ext>
            </a:extLst>
          </p:cNvPr>
          <p:cNvSpPr txBox="1"/>
          <p:nvPr/>
        </p:nvSpPr>
        <p:spPr>
          <a:xfrm>
            <a:off x="2333750" y="1421073"/>
            <a:ext cx="2617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Endocrine, nutritional, and metabolic diseases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DC72DDE-A0EF-B968-5016-9657852D567D}"/>
              </a:ext>
            </a:extLst>
          </p:cNvPr>
          <p:cNvCxnSpPr>
            <a:cxnSpLocks/>
          </p:cNvCxnSpPr>
          <p:nvPr/>
        </p:nvCxnSpPr>
        <p:spPr>
          <a:xfrm>
            <a:off x="4413813" y="1728921"/>
            <a:ext cx="15951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87BE039-F529-39E1-16A9-E43959119BCE}"/>
              </a:ext>
            </a:extLst>
          </p:cNvPr>
          <p:cNvSpPr txBox="1"/>
          <p:nvPr/>
        </p:nvSpPr>
        <p:spPr>
          <a:xfrm>
            <a:off x="2410970" y="3652149"/>
            <a:ext cx="2617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Circulatory system diseases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B566236-53E0-9FAC-3DA3-826B5082DE1C}"/>
              </a:ext>
            </a:extLst>
          </p:cNvPr>
          <p:cNvCxnSpPr>
            <a:cxnSpLocks/>
          </p:cNvCxnSpPr>
          <p:nvPr/>
        </p:nvCxnSpPr>
        <p:spPr>
          <a:xfrm>
            <a:off x="4413813" y="3981062"/>
            <a:ext cx="38243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1D4A7C74-1AD6-5A59-7BF5-5AC81375A558}"/>
              </a:ext>
            </a:extLst>
          </p:cNvPr>
          <p:cNvSpPr txBox="1"/>
          <p:nvPr/>
        </p:nvSpPr>
        <p:spPr>
          <a:xfrm>
            <a:off x="2375457" y="4196433"/>
            <a:ext cx="2533822" cy="274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400" b="1" dirty="0">
                <a:solidFill>
                  <a:srgbClr val="FF0000"/>
                </a:solidFill>
              </a:rPr>
              <a:t>Respiratory system diseases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117E392-2BFC-36B7-7501-506DE2EB71AD}"/>
              </a:ext>
            </a:extLst>
          </p:cNvPr>
          <p:cNvCxnSpPr>
            <a:cxnSpLocks/>
          </p:cNvCxnSpPr>
          <p:nvPr/>
        </p:nvCxnSpPr>
        <p:spPr>
          <a:xfrm>
            <a:off x="4413813" y="4558782"/>
            <a:ext cx="448741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83D932AF-CE68-08BE-F2D7-4EAC55A2A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41" y="1075541"/>
            <a:ext cx="1800476" cy="5068007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A92136E0-AFC7-635B-C707-93CBA55EBF16}"/>
              </a:ext>
            </a:extLst>
          </p:cNvPr>
          <p:cNvSpPr txBox="1"/>
          <p:nvPr/>
        </p:nvSpPr>
        <p:spPr>
          <a:xfrm>
            <a:off x="2497379" y="883258"/>
            <a:ext cx="1495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Bipolar disorder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C2A4E6C-EDF5-7746-B38C-80485B67C0FE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1918104" y="1037147"/>
            <a:ext cx="579275" cy="45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8E7609C5-827E-048A-74D5-1370939EBA0D}"/>
              </a:ext>
            </a:extLst>
          </p:cNvPr>
          <p:cNvCxnSpPr>
            <a:cxnSpLocks/>
          </p:cNvCxnSpPr>
          <p:nvPr/>
        </p:nvCxnSpPr>
        <p:spPr>
          <a:xfrm flipH="1" flipV="1">
            <a:off x="2092228" y="5557500"/>
            <a:ext cx="598324" cy="5070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321EB3F-41E2-2AF7-04D6-190E2277F98E}"/>
              </a:ext>
            </a:extLst>
          </p:cNvPr>
          <p:cNvSpPr txBox="1"/>
          <p:nvPr/>
        </p:nvSpPr>
        <p:spPr>
          <a:xfrm>
            <a:off x="2711197" y="5910618"/>
            <a:ext cx="743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Cancer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31D15F0-834F-5471-2341-06743F22C267}"/>
              </a:ext>
            </a:extLst>
          </p:cNvPr>
          <p:cNvCxnSpPr>
            <a:cxnSpLocks/>
          </p:cNvCxnSpPr>
          <p:nvPr/>
        </p:nvCxnSpPr>
        <p:spPr>
          <a:xfrm flipH="1">
            <a:off x="1971869" y="1234102"/>
            <a:ext cx="579275" cy="45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4131678B-0DDD-18DB-B469-37D9BA3A490E}"/>
              </a:ext>
            </a:extLst>
          </p:cNvPr>
          <p:cNvSpPr txBox="1"/>
          <p:nvPr/>
        </p:nvSpPr>
        <p:spPr>
          <a:xfrm>
            <a:off x="2497378" y="1080213"/>
            <a:ext cx="1495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Obesity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8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7254DCB-5512-A4A9-E0F6-8729E9D52107}"/>
              </a:ext>
            </a:extLst>
          </p:cNvPr>
          <p:cNvSpPr txBox="1"/>
          <p:nvPr/>
        </p:nvSpPr>
        <p:spPr>
          <a:xfrm>
            <a:off x="279919" y="214605"/>
            <a:ext cx="4273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PRS ranking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C336A3-89C0-C4C5-7EF8-15F28836F5A6}"/>
              </a:ext>
            </a:extLst>
          </p:cNvPr>
          <p:cNvSpPr txBox="1"/>
          <p:nvPr/>
        </p:nvSpPr>
        <p:spPr>
          <a:xfrm>
            <a:off x="6006582" y="1503115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Asthma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38361FC-0C13-BF0F-3CD5-3A089BA9221B}"/>
              </a:ext>
            </a:extLst>
          </p:cNvPr>
          <p:cNvCxnSpPr>
            <a:cxnSpLocks/>
          </p:cNvCxnSpPr>
          <p:nvPr/>
        </p:nvCxnSpPr>
        <p:spPr>
          <a:xfrm>
            <a:off x="6830008" y="1675411"/>
            <a:ext cx="883959" cy="224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7DDF1003-19EA-4619-7130-5EA533FA093F}"/>
              </a:ext>
            </a:extLst>
          </p:cNvPr>
          <p:cNvSpPr txBox="1"/>
          <p:nvPr/>
        </p:nvSpPr>
        <p:spPr>
          <a:xfrm>
            <a:off x="5540051" y="1988039"/>
            <a:ext cx="1289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Hypertension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72509AE-555C-BF46-5F7E-ADB859EBB454}"/>
              </a:ext>
            </a:extLst>
          </p:cNvPr>
          <p:cNvCxnSpPr>
            <a:cxnSpLocks/>
          </p:cNvCxnSpPr>
          <p:nvPr/>
        </p:nvCxnSpPr>
        <p:spPr>
          <a:xfrm>
            <a:off x="6830008" y="2188194"/>
            <a:ext cx="883959" cy="224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384A16D6-6FAE-984F-8F75-2637F94F5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311" y="1428471"/>
            <a:ext cx="4153480" cy="400105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0C388CF6-21EA-F63F-6FEC-3AC15AEAB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09" y="1070308"/>
            <a:ext cx="5361155" cy="235869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22DC6B2-0C8A-D2FD-30FB-9277200C757A}"/>
              </a:ext>
            </a:extLst>
          </p:cNvPr>
          <p:cNvSpPr txBox="1"/>
          <p:nvPr/>
        </p:nvSpPr>
        <p:spPr>
          <a:xfrm>
            <a:off x="1174433" y="95663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PGS004439</a:t>
            </a:r>
            <a:endParaRPr lang="en-US" altLang="zh-CN" b="0" i="0" dirty="0">
              <a:solidFill>
                <a:srgbClr val="007C82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63D7D69-6C73-BFE1-29F5-4EF37A0C0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19" y="3517317"/>
            <a:ext cx="5260132" cy="2886658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F05C8B4-8B47-AF8E-C60E-4D00ADF537B2}"/>
              </a:ext>
            </a:extLst>
          </p:cNvPr>
          <p:cNvSpPr txBox="1"/>
          <p:nvPr/>
        </p:nvSpPr>
        <p:spPr>
          <a:xfrm>
            <a:off x="1174433" y="344448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b="1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PGS004877</a:t>
            </a:r>
            <a:endParaRPr lang="en-US" altLang="zh-CN" b="0" i="0" dirty="0">
              <a:solidFill>
                <a:srgbClr val="007C82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63FE25D-B036-FF46-0FFC-E669CB01046C}"/>
              </a:ext>
            </a:extLst>
          </p:cNvPr>
          <p:cNvSpPr txBox="1"/>
          <p:nvPr/>
        </p:nvSpPr>
        <p:spPr>
          <a:xfrm>
            <a:off x="6221186" y="3150708"/>
            <a:ext cx="608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Gout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F29A1632-B421-4EFF-A2A4-EBCA643810FA}"/>
              </a:ext>
            </a:extLst>
          </p:cNvPr>
          <p:cNvCxnSpPr>
            <a:cxnSpLocks/>
          </p:cNvCxnSpPr>
          <p:nvPr/>
        </p:nvCxnSpPr>
        <p:spPr>
          <a:xfrm>
            <a:off x="6830008" y="3429000"/>
            <a:ext cx="883959" cy="224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56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D55F5-A095-49FB-302E-FE854C0F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BEEAE7-8A7B-BE45-8734-481412181199}"/>
              </a:ext>
            </a:extLst>
          </p:cNvPr>
          <p:cNvSpPr txBox="1"/>
          <p:nvPr/>
        </p:nvSpPr>
        <p:spPr>
          <a:xfrm>
            <a:off x="862219" y="2442640"/>
            <a:ext cx="8505716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AoU European Sample Result</a:t>
            </a:r>
          </a:p>
        </p:txBody>
      </p:sp>
    </p:spTree>
    <p:extLst>
      <p:ext uri="{BB962C8B-B14F-4D97-AF65-F5344CB8AC3E}">
        <p14:creationId xmlns:p14="http://schemas.microsoft.com/office/powerpoint/2010/main" val="2986529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CB8358-AB16-4677-2113-39228B83C3F4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41BCE8-D5AF-B615-0E75-EB11951C7EC4}"/>
              </a:ext>
            </a:extLst>
          </p:cNvPr>
          <p:cNvSpPr txBox="1"/>
          <p:nvPr/>
        </p:nvSpPr>
        <p:spPr>
          <a:xfrm>
            <a:off x="632150" y="1227690"/>
            <a:ext cx="10564584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traits selection: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all traits within the list of categories (ontology identifier, #traits = 260): ["Cancer", "Cardiovascular disease", "Digestive system disorder", "Immune system disorder", "Metabolic disorder", "Neurological disorder", "Other disease“]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ontology with ICD10CM IDs by terms, manually check, and drop vague traits (#traits = 229, #ICD10CM Root = 140, #ICD10CM Children = 180).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trait, search by the PGS catalog API, and retrieve all PGS IDs.</a:t>
            </a:r>
          </a:p>
          <a:p>
            <a:pPr marL="342900" indent="-342900" fontAlgn="base" latinLnBrk="1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PGS ID, search by PGS catalog API and get the corresponding URL with hmPOS_GRCh38 (#PGS = 2135).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28C26C-43F0-A4C2-48B3-2B4527F324FF}"/>
              </a:ext>
            </a:extLst>
          </p:cNvPr>
          <p:cNvSpPr txBox="1"/>
          <p:nvPr/>
        </p:nvSpPr>
        <p:spPr>
          <a:xfrm>
            <a:off x="632150" y="5009751"/>
            <a:ext cx="1003273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sample size: 151,123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Traits: #ICD10CM Root = 140, #ICD10CM Children = 180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PGS: #PGS IDs = 2135</a:t>
            </a:r>
          </a:p>
        </p:txBody>
      </p:sp>
    </p:spTree>
    <p:extLst>
      <p:ext uri="{BB962C8B-B14F-4D97-AF65-F5344CB8AC3E}">
        <p14:creationId xmlns:p14="http://schemas.microsoft.com/office/powerpoint/2010/main" val="2920092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3548C0-AAF3-C458-7D3D-3AA8FF48A8A7}"/>
              </a:ext>
            </a:extLst>
          </p:cNvPr>
          <p:cNvSpPr txBox="1"/>
          <p:nvPr/>
        </p:nvSpPr>
        <p:spPr>
          <a:xfrm>
            <a:off x="524847" y="1278630"/>
            <a:ext cx="11278377" cy="20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Computation (Instead of using loading data):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PCs, we pruned autosomal variants with MAF &gt;1% across the pooled dataset, using an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𝑟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threshold of 0.1, a window size of 500kb with PLINK2 (--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-pairwise). The first 10 PCs were then computed separately within each genetic ancestry group and within the pooled dataset using PLINK2 (--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pca-approx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altLang="zh-CN" sz="1400" b="1" dirty="0">
                <a:solidFill>
                  <a:srgbClr val="1B1B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(Evaluating Multi-Ancestry Genome-Wide Association Methods: Statistical Power, Population Structure, and Practical Implications)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C6094-DDD1-EBF0-E796-6F8D89894293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305E50-C0F3-B6B3-CD7D-5DFFBC90C579}"/>
              </a:ext>
            </a:extLst>
          </p:cNvPr>
          <p:cNvSpPr txBox="1"/>
          <p:nvPr/>
        </p:nvSpPr>
        <p:spPr>
          <a:xfrm>
            <a:off x="524847" y="3609728"/>
            <a:ext cx="11278377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AoU Trait Preprocess:</a:t>
            </a: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in ICD10CM Children code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Cutoff by case number bigger than 10 (#ICD10CM children code in AoU = 16056)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code case is retrieved by combining all children code</a:t>
            </a:r>
          </a:p>
        </p:txBody>
      </p:sp>
    </p:spTree>
    <p:extLst>
      <p:ext uri="{BB962C8B-B14F-4D97-AF65-F5344CB8AC3E}">
        <p14:creationId xmlns:p14="http://schemas.microsoft.com/office/powerpoint/2010/main" val="3893306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22E72D-7A6E-C2FA-5F4D-D4A6E20E99B1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Trait &amp; PGS selection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A81DFB-9FEA-4AA1-B486-3E0C93925D2C}"/>
              </a:ext>
            </a:extLst>
          </p:cNvPr>
          <p:cNvSpPr txBox="1"/>
          <p:nvPr/>
        </p:nvSpPr>
        <p:spPr>
          <a:xfrm>
            <a:off x="456811" y="1145554"/>
            <a:ext cx="11278377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AoU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srWGS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preprocess:</a:t>
            </a:r>
          </a:p>
          <a:p>
            <a:pPr algn="l"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All of Us WGS ACAF dataset is too large to be easily used in PGS calculations. To overcome this, we will first extract a subset of variants using a custom list containing the most relevant genomic positions for PGS calculation (pgsc_all+hm3_variants_hg38_[DATE].txt.gz, available from the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 folder on our FTP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This file comprises merged data representing ~17.9 million genomic positions extracted from ~5,000 PGS Catalog scoring files and the HapMap3+ dataset.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0849C-8538-5196-D459-7DC507B0C385}"/>
              </a:ext>
            </a:extLst>
          </p:cNvPr>
          <p:cNvSpPr txBox="1"/>
          <p:nvPr/>
        </p:nvSpPr>
        <p:spPr>
          <a:xfrm>
            <a:off x="456811" y="3681120"/>
            <a:ext cx="9629581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score computation: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Catalog Calculator.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batch with each batch ~200 PGS (~13h) (2135 PGS -- &gt; 1846 PGS)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C47421-CF47-DB84-C3A1-44B19C813FC3}"/>
              </a:ext>
            </a:extLst>
          </p:cNvPr>
          <p:cNvSpPr txBox="1"/>
          <p:nvPr/>
        </p:nvSpPr>
        <p:spPr>
          <a:xfrm>
            <a:off x="456811" y="4554692"/>
            <a:ext cx="9629581" cy="88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AUC score computation (adjust for sex, age, and top 10 PCs):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roc.binary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function within the R package RISCA. 200 batch with each batch 5 PGS (~1h)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6BAAAE-B94E-1934-B422-CAAFB287FA49}"/>
              </a:ext>
            </a:extLst>
          </p:cNvPr>
          <p:cNvSpPr txBox="1"/>
          <p:nvPr/>
        </p:nvSpPr>
        <p:spPr>
          <a:xfrm>
            <a:off x="456810" y="5442756"/>
            <a:ext cx="9629581" cy="88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quality control: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cases &gt; 200.</a:t>
            </a:r>
          </a:p>
        </p:txBody>
      </p:sp>
    </p:spTree>
    <p:extLst>
      <p:ext uri="{BB962C8B-B14F-4D97-AF65-F5344CB8AC3E}">
        <p14:creationId xmlns:p14="http://schemas.microsoft.com/office/powerpoint/2010/main" val="3414852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686E621-9C99-5E8A-0B26-6DC136FFC755}"/>
              </a:ext>
            </a:extLst>
          </p:cNvPr>
          <p:cNvSpPr txBox="1"/>
          <p:nvPr/>
        </p:nvSpPr>
        <p:spPr>
          <a:xfrm>
            <a:off x="237068" y="699795"/>
            <a:ext cx="256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Avg PRS Performance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387F30-B866-157A-F512-EACB22BE18D8}"/>
              </a:ext>
            </a:extLst>
          </p:cNvPr>
          <p:cNvSpPr txBox="1"/>
          <p:nvPr/>
        </p:nvSpPr>
        <p:spPr>
          <a:xfrm>
            <a:off x="237068" y="111529"/>
            <a:ext cx="2963332" cy="465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Children’s Code Results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B853F6F-7811-F6C3-B6A9-DC01882F4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768" y="0"/>
            <a:ext cx="8329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8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57EE6B-C8E4-0B4C-1F33-66E10C73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29727"/>
            <a:ext cx="3094824" cy="23386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99C2D7-61DE-D528-9F00-B5FCE5DAB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873" y="1005259"/>
            <a:ext cx="3096793" cy="23630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406214-6F75-F76F-81E4-06B2271A9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32" y="1005259"/>
            <a:ext cx="3053464" cy="23386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77C7FB-323C-1AAC-48CE-AC65348C5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2528" y="1005260"/>
            <a:ext cx="3089472" cy="23052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A041506-6D15-AE35-C998-220FF5935D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29000"/>
            <a:ext cx="3056711" cy="23630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04FC5F8-AA50-70EC-1340-8E7D5959D0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4825" y="3429000"/>
            <a:ext cx="2999207" cy="235149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B366753-42C8-C78B-1ED9-D6E8ABFDF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4032" y="3453468"/>
            <a:ext cx="3102448" cy="233862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C051E66-0DCD-CF37-5D2B-51E48E7E1B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7497" y="3453469"/>
            <a:ext cx="3044504" cy="232256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F0033A7-77B1-43AF-323A-3F89678FC6AE}"/>
              </a:ext>
            </a:extLst>
          </p:cNvPr>
          <p:cNvSpPr txBox="1"/>
          <p:nvPr/>
        </p:nvSpPr>
        <p:spPr>
          <a:xfrm>
            <a:off x="3466704" y="595321"/>
            <a:ext cx="2251129" cy="379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lymphoid leukemia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10501C-30DD-DE8C-B729-EA19ECD2E091}"/>
              </a:ext>
            </a:extLst>
          </p:cNvPr>
          <p:cNvSpPr txBox="1"/>
          <p:nvPr/>
        </p:nvSpPr>
        <p:spPr>
          <a:xfrm>
            <a:off x="4351150" y="147187"/>
            <a:ext cx="7210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congenital vitamin k-dependent coagulation factors deficiency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A2B34D8-E32C-0507-DCBF-16BCB5332CCE}"/>
              </a:ext>
            </a:extLst>
          </p:cNvPr>
          <p:cNvSpPr txBox="1"/>
          <p:nvPr/>
        </p:nvSpPr>
        <p:spPr>
          <a:xfrm>
            <a:off x="9898709" y="574132"/>
            <a:ext cx="1542080" cy="373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sarcoidosis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C92A7BD-F42E-366E-B28E-0F0F052FCAB7}"/>
              </a:ext>
            </a:extLst>
          </p:cNvPr>
          <p:cNvSpPr txBox="1"/>
          <p:nvPr/>
        </p:nvSpPr>
        <p:spPr>
          <a:xfrm>
            <a:off x="693549" y="5852741"/>
            <a:ext cx="1863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Hypothyroidism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40CC291-7A65-5470-F7E4-A002D5711558}"/>
              </a:ext>
            </a:extLst>
          </p:cNvPr>
          <p:cNvSpPr txBox="1"/>
          <p:nvPr/>
        </p:nvSpPr>
        <p:spPr>
          <a:xfrm>
            <a:off x="3094825" y="5893347"/>
            <a:ext cx="3227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Nontoxic multinodular goiter</a:t>
            </a:r>
          </a:p>
        </p:txBody>
      </p:sp>
    </p:spTree>
    <p:extLst>
      <p:ext uri="{BB962C8B-B14F-4D97-AF65-F5344CB8AC3E}">
        <p14:creationId xmlns:p14="http://schemas.microsoft.com/office/powerpoint/2010/main" val="197804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808DEF8-896F-F0D7-D0B1-CD3C59E8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1203901"/>
            <a:ext cx="2933700" cy="22542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42D07F-6E12-0FB4-9CB2-FA521D91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177714"/>
            <a:ext cx="3019425" cy="22611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03769F-5448-FE25-C2B0-7DFABA917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1203901"/>
            <a:ext cx="2933700" cy="22059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599DDFA-39C5-E7AB-80B3-951F7FF42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75" y="1203901"/>
            <a:ext cx="2933700" cy="222509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A4586F5-CDDD-4AA1-AA09-833FF4AA2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4" y="3484308"/>
            <a:ext cx="3019425" cy="232514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A18BD69-4916-E9FC-2347-488CE30C40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3249" y="3484308"/>
            <a:ext cx="3020121" cy="222989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C13C269-8A48-D099-64C6-3FFEA74B85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74" y="3484308"/>
            <a:ext cx="2933701" cy="226196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8672AE3-1477-8E4F-C350-F5C5630E25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6375" y="3471975"/>
            <a:ext cx="2933700" cy="225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46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076CF-0AA5-7919-CFFA-D5ABEB10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CC36FAF-CD5A-DBBA-547A-C6778D97F54E}"/>
              </a:ext>
            </a:extLst>
          </p:cNvPr>
          <p:cNvSpPr txBox="1"/>
          <p:nvPr/>
        </p:nvSpPr>
        <p:spPr>
          <a:xfrm>
            <a:off x="237068" y="699795"/>
            <a:ext cx="256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Avg PRS Performance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0CB22C-B14E-CF6D-C210-C0C7610FBA93}"/>
              </a:ext>
            </a:extLst>
          </p:cNvPr>
          <p:cNvSpPr txBox="1"/>
          <p:nvPr/>
        </p:nvSpPr>
        <p:spPr>
          <a:xfrm>
            <a:off x="237068" y="111529"/>
            <a:ext cx="2963332" cy="465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Root’s Code Results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2077FE-AE4F-383E-0A3C-18985D9C3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037" y="0"/>
            <a:ext cx="8350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784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0DAD67-242C-B0BC-AA4D-7019398EE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548"/>
            <a:ext cx="2984960" cy="23118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DC26F99-0123-DF14-29A9-4ECC1F86A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960" y="1271548"/>
            <a:ext cx="2984960" cy="2254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988861C-5E43-7940-3FAF-B5F4102F8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920" y="1271548"/>
            <a:ext cx="2984960" cy="22466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9B470F-4D48-A9C9-3785-D52C40B72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879" y="1240123"/>
            <a:ext cx="2984959" cy="22864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A061962-FB60-5FB1-FFF3-625A34879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3583383"/>
            <a:ext cx="2984959" cy="233931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D03310-D261-C68B-EDF8-597FE13A5D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4958" y="3570062"/>
            <a:ext cx="2984959" cy="235263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4894FC9-DE02-6FCE-5261-A0379D1DA4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916" y="3533741"/>
            <a:ext cx="3035650" cy="231398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FCA2796-AB56-62F7-95FB-465CBF5BC3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5566" y="3549134"/>
            <a:ext cx="2934272" cy="230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578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8236996-66C7-6D94-8AAD-9EB58AB64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77" y="1506049"/>
            <a:ext cx="2984960" cy="22297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8A8E303-29E9-C86A-BBB8-D5557422A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104" y="1506049"/>
            <a:ext cx="2950450" cy="22297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2BE3A8-BDCD-FB0C-D9F7-495D47B19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969" y="1506049"/>
            <a:ext cx="2950450" cy="21917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0C9A17-3C29-89F1-11E8-F7E020939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4419" y="1475053"/>
            <a:ext cx="2872032" cy="22342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589B4BD-32FA-1E35-BD8C-638E3F6826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977" y="3766775"/>
            <a:ext cx="3013514" cy="222973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958F4FF-A0F4-0A31-5CEC-6AE29D69AE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491" y="3735778"/>
            <a:ext cx="2956686" cy="226072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56B272A-7E05-ADC8-C982-61B615B629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7178" y="3735779"/>
            <a:ext cx="2837242" cy="219985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29BA355-4408-2B3D-1AFB-099D3269E8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4419" y="3720280"/>
            <a:ext cx="2872032" cy="221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25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B88DE9B-A524-81AA-7491-63ED76626F26}"/>
              </a:ext>
            </a:extLst>
          </p:cNvPr>
          <p:cNvSpPr txBox="1"/>
          <p:nvPr/>
        </p:nvSpPr>
        <p:spPr>
          <a:xfrm>
            <a:off x="237067" y="0"/>
            <a:ext cx="10745063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Ranks (overall)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88840C-38E0-1C6A-1F67-948A9D93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2032018"/>
            <a:ext cx="3851910" cy="31635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FA6B2F-2E53-C5DC-513B-CA9DE4DED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977" y="2032019"/>
            <a:ext cx="3851910" cy="31185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D3D54C-9FAC-52C3-F49F-8AF9353EC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887" y="2032018"/>
            <a:ext cx="3851910" cy="3118539"/>
          </a:xfrm>
          <a:prstGeom prst="rect">
            <a:avLst/>
          </a:prstGeom>
        </p:spPr>
      </p:pic>
      <p:sp>
        <p:nvSpPr>
          <p:cNvPr id="5" name="文本框 7">
            <a:extLst>
              <a:ext uri="{FF2B5EF4-FFF2-40B4-BE49-F238E27FC236}">
                <a16:creationId xmlns:a16="http://schemas.microsoft.com/office/drawing/2014/main" id="{5543E724-8D61-13E8-7921-4BD2944296A7}"/>
              </a:ext>
            </a:extLst>
          </p:cNvPr>
          <p:cNvSpPr txBox="1"/>
          <p:nvPr/>
        </p:nvSpPr>
        <p:spPr>
          <a:xfrm>
            <a:off x="3349801" y="371558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O14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6" name="直接箭头连接符 8">
            <a:extLst>
              <a:ext uri="{FF2B5EF4-FFF2-40B4-BE49-F238E27FC236}">
                <a16:creationId xmlns:a16="http://schemas.microsoft.com/office/drawing/2014/main" id="{871C42DF-0F5E-D1B4-5B0B-CB2A25803A45}"/>
              </a:ext>
            </a:extLst>
          </p:cNvPr>
          <p:cNvCxnSpPr>
            <a:cxnSpLocks/>
          </p:cNvCxnSpPr>
          <p:nvPr/>
        </p:nvCxnSpPr>
        <p:spPr>
          <a:xfrm>
            <a:off x="3609474" y="4023360"/>
            <a:ext cx="187011" cy="3860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7">
            <a:extLst>
              <a:ext uri="{FF2B5EF4-FFF2-40B4-BE49-F238E27FC236}">
                <a16:creationId xmlns:a16="http://schemas.microsoft.com/office/drawing/2014/main" id="{D0050566-395F-FBF0-A3A9-04C184DB60A5}"/>
              </a:ext>
            </a:extLst>
          </p:cNvPr>
          <p:cNvSpPr txBox="1"/>
          <p:nvPr/>
        </p:nvSpPr>
        <p:spPr>
          <a:xfrm>
            <a:off x="2905172" y="371558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8">
            <a:extLst>
              <a:ext uri="{FF2B5EF4-FFF2-40B4-BE49-F238E27FC236}">
                <a16:creationId xmlns:a16="http://schemas.microsoft.com/office/drawing/2014/main" id="{53EC88C1-C32F-BAAA-9CA2-4F44C5CD21B6}"/>
              </a:ext>
            </a:extLst>
          </p:cNvPr>
          <p:cNvCxnSpPr>
            <a:cxnSpLocks/>
          </p:cNvCxnSpPr>
          <p:nvPr/>
        </p:nvCxnSpPr>
        <p:spPr>
          <a:xfrm>
            <a:off x="3164845" y="4023360"/>
            <a:ext cx="481882" cy="471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8">
            <a:extLst>
              <a:ext uri="{FF2B5EF4-FFF2-40B4-BE49-F238E27FC236}">
                <a16:creationId xmlns:a16="http://schemas.microsoft.com/office/drawing/2014/main" id="{71733847-564A-05A5-29DC-FA4EB03708E6}"/>
              </a:ext>
            </a:extLst>
          </p:cNvPr>
          <p:cNvCxnSpPr>
            <a:cxnSpLocks/>
          </p:cNvCxnSpPr>
          <p:nvPr/>
        </p:nvCxnSpPr>
        <p:spPr>
          <a:xfrm flipH="1">
            <a:off x="4753436" y="4149572"/>
            <a:ext cx="267711" cy="345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7">
            <a:extLst>
              <a:ext uri="{FF2B5EF4-FFF2-40B4-BE49-F238E27FC236}">
                <a16:creationId xmlns:a16="http://schemas.microsoft.com/office/drawing/2014/main" id="{EE6AD0F8-E687-6C23-06C2-FB212894EF35}"/>
              </a:ext>
            </a:extLst>
          </p:cNvPr>
          <p:cNvSpPr txBox="1"/>
          <p:nvPr/>
        </p:nvSpPr>
        <p:spPr>
          <a:xfrm>
            <a:off x="4803079" y="376897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O14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文本框 7">
            <a:extLst>
              <a:ext uri="{FF2B5EF4-FFF2-40B4-BE49-F238E27FC236}">
                <a16:creationId xmlns:a16="http://schemas.microsoft.com/office/drawing/2014/main" id="{973E8603-C887-E5BF-0D40-B433C872EA12}"/>
              </a:ext>
            </a:extLst>
          </p:cNvPr>
          <p:cNvSpPr txBox="1"/>
          <p:nvPr/>
        </p:nvSpPr>
        <p:spPr>
          <a:xfrm>
            <a:off x="5301359" y="414957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18" name="直接箭头连接符 8">
            <a:extLst>
              <a:ext uri="{FF2B5EF4-FFF2-40B4-BE49-F238E27FC236}">
                <a16:creationId xmlns:a16="http://schemas.microsoft.com/office/drawing/2014/main" id="{C81E9AA8-B339-396F-EC0F-62C96AC87897}"/>
              </a:ext>
            </a:extLst>
          </p:cNvPr>
          <p:cNvCxnSpPr>
            <a:cxnSpLocks/>
          </p:cNvCxnSpPr>
          <p:nvPr/>
        </p:nvCxnSpPr>
        <p:spPr>
          <a:xfrm flipH="1">
            <a:off x="5003912" y="4409412"/>
            <a:ext cx="405960" cy="16065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8">
            <a:extLst>
              <a:ext uri="{FF2B5EF4-FFF2-40B4-BE49-F238E27FC236}">
                <a16:creationId xmlns:a16="http://schemas.microsoft.com/office/drawing/2014/main" id="{14ED26C8-D4FF-03A6-98A4-64E936D69FF7}"/>
              </a:ext>
            </a:extLst>
          </p:cNvPr>
          <p:cNvCxnSpPr>
            <a:cxnSpLocks/>
          </p:cNvCxnSpPr>
          <p:nvPr/>
        </p:nvCxnSpPr>
        <p:spPr>
          <a:xfrm>
            <a:off x="11309684" y="4076749"/>
            <a:ext cx="173797" cy="3846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7">
            <a:extLst>
              <a:ext uri="{FF2B5EF4-FFF2-40B4-BE49-F238E27FC236}">
                <a16:creationId xmlns:a16="http://schemas.microsoft.com/office/drawing/2014/main" id="{E9DCBBB3-5898-7A27-9824-FE19049F29F7}"/>
              </a:ext>
            </a:extLst>
          </p:cNvPr>
          <p:cNvSpPr txBox="1"/>
          <p:nvPr/>
        </p:nvSpPr>
        <p:spPr>
          <a:xfrm>
            <a:off x="11020987" y="3715582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O14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3" name="文本框 7">
            <a:extLst>
              <a:ext uri="{FF2B5EF4-FFF2-40B4-BE49-F238E27FC236}">
                <a16:creationId xmlns:a16="http://schemas.microsoft.com/office/drawing/2014/main" id="{75E8CE1A-DF06-B6ED-CE92-CD2F2D7CACA3}"/>
              </a:ext>
            </a:extLst>
          </p:cNvPr>
          <p:cNvSpPr txBox="1"/>
          <p:nvPr/>
        </p:nvSpPr>
        <p:spPr>
          <a:xfrm>
            <a:off x="10489437" y="4023359"/>
            <a:ext cx="519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C62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cxnSp>
        <p:nvCxnSpPr>
          <p:cNvPr id="24" name="直接箭头连接符 8">
            <a:extLst>
              <a:ext uri="{FF2B5EF4-FFF2-40B4-BE49-F238E27FC236}">
                <a16:creationId xmlns:a16="http://schemas.microsoft.com/office/drawing/2014/main" id="{CCE3A5B5-4EFD-76A9-0A08-5D4AD39FE2C4}"/>
              </a:ext>
            </a:extLst>
          </p:cNvPr>
          <p:cNvCxnSpPr>
            <a:cxnSpLocks/>
          </p:cNvCxnSpPr>
          <p:nvPr/>
        </p:nvCxnSpPr>
        <p:spPr>
          <a:xfrm>
            <a:off x="10901921" y="4331136"/>
            <a:ext cx="378739" cy="1586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073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7D8557-0432-6DFA-4ED0-A2A2C93E3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18" y="1356904"/>
            <a:ext cx="4566615" cy="3792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D7D479-0055-6754-37D7-6E1661260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640" y="1356905"/>
            <a:ext cx="6329183" cy="39256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8D841A-6DA6-B675-4CFB-8E52E5E18933}"/>
              </a:ext>
            </a:extLst>
          </p:cNvPr>
          <p:cNvSpPr txBox="1"/>
          <p:nvPr/>
        </p:nvSpPr>
        <p:spPr>
          <a:xfrm>
            <a:off x="10421754" y="3884052"/>
            <a:ext cx="1629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D64 I49 M47 R94</a:t>
            </a:r>
          </a:p>
        </p:txBody>
      </p:sp>
      <p:cxnSp>
        <p:nvCxnSpPr>
          <p:cNvPr id="11" name="直接箭头连接符 8">
            <a:extLst>
              <a:ext uri="{FF2B5EF4-FFF2-40B4-BE49-F238E27FC236}">
                <a16:creationId xmlns:a16="http://schemas.microsoft.com/office/drawing/2014/main" id="{3DAFB047-D179-610E-4B8E-531B1C1FDF2D}"/>
              </a:ext>
            </a:extLst>
          </p:cNvPr>
          <p:cNvCxnSpPr>
            <a:cxnSpLocks/>
          </p:cNvCxnSpPr>
          <p:nvPr/>
        </p:nvCxnSpPr>
        <p:spPr>
          <a:xfrm flipH="1">
            <a:off x="11365126" y="4216948"/>
            <a:ext cx="267711" cy="3454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9">
            <a:extLst>
              <a:ext uri="{FF2B5EF4-FFF2-40B4-BE49-F238E27FC236}">
                <a16:creationId xmlns:a16="http://schemas.microsoft.com/office/drawing/2014/main" id="{B429C775-DB86-4640-5620-F9F0BFD7DD86}"/>
              </a:ext>
            </a:extLst>
          </p:cNvPr>
          <p:cNvSpPr txBox="1"/>
          <p:nvPr/>
        </p:nvSpPr>
        <p:spPr>
          <a:xfrm>
            <a:off x="237067" y="0"/>
            <a:ext cx="10745063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Ranks (overall)</a:t>
            </a:r>
          </a:p>
        </p:txBody>
      </p:sp>
    </p:spTree>
    <p:extLst>
      <p:ext uri="{BB962C8B-B14F-4D97-AF65-F5344CB8AC3E}">
        <p14:creationId xmlns:p14="http://schemas.microsoft.com/office/powerpoint/2010/main" val="1713360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DA319A-AA95-3103-BC99-CC489927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495" y="1850456"/>
            <a:ext cx="3686787" cy="3061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C140D2-9A61-4E86-CD34-046A85B07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282" y="1850456"/>
            <a:ext cx="3801391" cy="31570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326FA0-7BAB-9818-9346-5208A8850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08" y="1850456"/>
            <a:ext cx="3686787" cy="3061908"/>
          </a:xfrm>
          <a:prstGeom prst="rect">
            <a:avLst/>
          </a:prstGeom>
        </p:spPr>
      </p:pic>
      <p:sp>
        <p:nvSpPr>
          <p:cNvPr id="15" name="文本框 9">
            <a:extLst>
              <a:ext uri="{FF2B5EF4-FFF2-40B4-BE49-F238E27FC236}">
                <a16:creationId xmlns:a16="http://schemas.microsoft.com/office/drawing/2014/main" id="{2BFF148C-7C7D-AF1C-B263-D800FD65B402}"/>
              </a:ext>
            </a:extLst>
          </p:cNvPr>
          <p:cNvSpPr txBox="1"/>
          <p:nvPr/>
        </p:nvSpPr>
        <p:spPr>
          <a:xfrm>
            <a:off x="237067" y="0"/>
            <a:ext cx="10745063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Ranks (selected trait set n = 37)</a:t>
            </a:r>
          </a:p>
        </p:txBody>
      </p:sp>
    </p:spTree>
    <p:extLst>
      <p:ext uri="{BB962C8B-B14F-4D97-AF65-F5344CB8AC3E}">
        <p14:creationId xmlns:p14="http://schemas.microsoft.com/office/powerpoint/2010/main" val="128608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82403A-C0FF-737C-72D8-E3C8B932C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87" y="1176688"/>
            <a:ext cx="3686787" cy="3061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2CB04-6D40-EC9E-CAAE-CB6AA6D9F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375" y="1782320"/>
            <a:ext cx="7542998" cy="1646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E52BE5-A20A-A6C9-525A-128F7271F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67" y="4428924"/>
            <a:ext cx="11526919" cy="2237783"/>
          </a:xfrm>
          <a:prstGeom prst="rect">
            <a:avLst/>
          </a:prstGeom>
        </p:spPr>
      </p:pic>
      <p:sp>
        <p:nvSpPr>
          <p:cNvPr id="7" name="文本框 9">
            <a:extLst>
              <a:ext uri="{FF2B5EF4-FFF2-40B4-BE49-F238E27FC236}">
                <a16:creationId xmlns:a16="http://schemas.microsoft.com/office/drawing/2014/main" id="{074489A3-EDF9-E2A8-DBCB-901B6CABBE96}"/>
              </a:ext>
            </a:extLst>
          </p:cNvPr>
          <p:cNvSpPr txBox="1"/>
          <p:nvPr/>
        </p:nvSpPr>
        <p:spPr>
          <a:xfrm>
            <a:off x="237067" y="0"/>
            <a:ext cx="10745063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Ranks (selected trait set n = 37)</a:t>
            </a:r>
          </a:p>
        </p:txBody>
      </p:sp>
    </p:spTree>
    <p:extLst>
      <p:ext uri="{BB962C8B-B14F-4D97-AF65-F5344CB8AC3E}">
        <p14:creationId xmlns:p14="http://schemas.microsoft.com/office/powerpoint/2010/main" val="542030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9">
            <a:extLst>
              <a:ext uri="{FF2B5EF4-FFF2-40B4-BE49-F238E27FC236}">
                <a16:creationId xmlns:a16="http://schemas.microsoft.com/office/drawing/2014/main" id="{ABFA0B6A-F63B-03E8-72E6-EFD04434FA86}"/>
              </a:ext>
            </a:extLst>
          </p:cNvPr>
          <p:cNvSpPr txBox="1"/>
          <p:nvPr/>
        </p:nvSpPr>
        <p:spPr>
          <a:xfrm>
            <a:off x="237067" y="0"/>
            <a:ext cx="10745063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PGS Ranks (selected trait set n = 37)</a:t>
            </a:r>
          </a:p>
        </p:txBody>
      </p:sp>
    </p:spTree>
    <p:extLst>
      <p:ext uri="{BB962C8B-B14F-4D97-AF65-F5344CB8AC3E}">
        <p14:creationId xmlns:p14="http://schemas.microsoft.com/office/powerpoint/2010/main" val="1431308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F507407-7570-E0FB-96CD-6A9EA3BCE2F7}"/>
              </a:ext>
            </a:extLst>
          </p:cNvPr>
          <p:cNvSpPr txBox="1"/>
          <p:nvPr/>
        </p:nvSpPr>
        <p:spPr>
          <a:xfrm>
            <a:off x="510851" y="1109084"/>
            <a:ext cx="10517932" cy="378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1. Vague Trait in PGS catalog (identified by ontology): 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e.g.,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Substance-related disorder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（物质相关障碍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物质使用障碍）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F10–F19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tract infectious disorder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（呼吸道感染性疾病）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J00–J06 / J09–J18 / J20–J22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system cancer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（呼吸系统癌）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C30–C39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nervous system disease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（周围神经系统疾病）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G50–G64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Self-injurious behavior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（自伤行为）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X60–X84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tissue disease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（软组织疾病）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M60–M79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Spondyloarthropathy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（脊柱关节病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强直性脊柱炎及相关疾病） →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M45–M49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B39209-EE01-662C-8B09-A69B12CD57C2}"/>
              </a:ext>
            </a:extLst>
          </p:cNvPr>
          <p:cNvSpPr txBox="1"/>
          <p:nvPr/>
        </p:nvSpPr>
        <p:spPr>
          <a:xfrm>
            <a:off x="237068" y="0"/>
            <a:ext cx="6096000" cy="9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5ED9F2-26FF-19E3-B18A-4DECF522704F}"/>
              </a:ext>
            </a:extLst>
          </p:cNvPr>
          <p:cNvSpPr txBox="1"/>
          <p:nvPr/>
        </p:nvSpPr>
        <p:spPr>
          <a:xfrm>
            <a:off x="510851" y="5021435"/>
            <a:ext cx="10517932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2. Particular trait performance is inconsistent: C53, C62, O14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Checked case numbers 392, 204, 590 (relatively small but not the smallest)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E16C46-5F63-9B61-13A1-C6A167687CB8}"/>
              </a:ext>
            </a:extLst>
          </p:cNvPr>
          <p:cNvSpPr txBox="1"/>
          <p:nvPr/>
        </p:nvSpPr>
        <p:spPr>
          <a:xfrm>
            <a:off x="510851" y="5902574"/>
            <a:ext cx="11301704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3. In a particular set of traits, the ranking correlation between performance and metadata might be clearer</a:t>
            </a:r>
          </a:p>
        </p:txBody>
      </p:sp>
    </p:spTree>
    <p:extLst>
      <p:ext uri="{BB962C8B-B14F-4D97-AF65-F5344CB8AC3E}">
        <p14:creationId xmlns:p14="http://schemas.microsoft.com/office/powerpoint/2010/main" val="80844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2328</TotalTime>
  <Words>952</Words>
  <Application>Microsoft Macintosh PowerPoint</Application>
  <PresentationFormat>Widescreen</PresentationFormat>
  <Paragraphs>98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等线</vt:lpstr>
      <vt:lpstr>等线 Light</vt:lpstr>
      <vt:lpstr>Arial</vt:lpstr>
      <vt:lpstr>Helvetica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Jiyao</dc:creator>
  <cp:lastModifiedBy>Jiyao Zhang</cp:lastModifiedBy>
  <cp:revision>46</cp:revision>
  <dcterms:created xsi:type="dcterms:W3CDTF">2026-02-15T19:27:28Z</dcterms:created>
  <dcterms:modified xsi:type="dcterms:W3CDTF">2026-02-27T05:25:00Z</dcterms:modified>
</cp:coreProperties>
</file>