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0"/>
  </p:notesMasterIdLst>
  <p:sldIdLst>
    <p:sldId id="266" r:id="rId2"/>
    <p:sldId id="256" r:id="rId3"/>
    <p:sldId id="257" r:id="rId4"/>
    <p:sldId id="258" r:id="rId5"/>
    <p:sldId id="259" r:id="rId6"/>
    <p:sldId id="263" r:id="rId7"/>
    <p:sldId id="260" r:id="rId8"/>
    <p:sldId id="261" r:id="rId9"/>
    <p:sldId id="262" r:id="rId10"/>
    <p:sldId id="267" r:id="rId11"/>
    <p:sldId id="264" r:id="rId12"/>
    <p:sldId id="281" r:id="rId13"/>
    <p:sldId id="265" r:id="rId14"/>
    <p:sldId id="269" r:id="rId15"/>
    <p:sldId id="283" r:id="rId16"/>
    <p:sldId id="282" r:id="rId17"/>
    <p:sldId id="277" r:id="rId18"/>
    <p:sldId id="312" r:id="rId19"/>
    <p:sldId id="317" r:id="rId20"/>
    <p:sldId id="306" r:id="rId21"/>
    <p:sldId id="285" r:id="rId22"/>
    <p:sldId id="286" r:id="rId23"/>
    <p:sldId id="315" r:id="rId24"/>
    <p:sldId id="314" r:id="rId25"/>
    <p:sldId id="313" r:id="rId26"/>
    <p:sldId id="319" r:id="rId27"/>
    <p:sldId id="316" r:id="rId28"/>
    <p:sldId id="274" r:id="rId29"/>
    <p:sldId id="278" r:id="rId30"/>
    <p:sldId id="287" r:id="rId31"/>
    <p:sldId id="298" r:id="rId32"/>
    <p:sldId id="299" r:id="rId33"/>
    <p:sldId id="300" r:id="rId34"/>
    <p:sldId id="301" r:id="rId35"/>
    <p:sldId id="288" r:id="rId36"/>
    <p:sldId id="291" r:id="rId37"/>
    <p:sldId id="308" r:id="rId38"/>
    <p:sldId id="318" r:id="rId39"/>
    <p:sldId id="290" r:id="rId40"/>
    <p:sldId id="310" r:id="rId41"/>
    <p:sldId id="311" r:id="rId42"/>
    <p:sldId id="292" r:id="rId43"/>
    <p:sldId id="302" r:id="rId44"/>
    <p:sldId id="293" r:id="rId45"/>
    <p:sldId id="304" r:id="rId46"/>
    <p:sldId id="303" r:id="rId47"/>
    <p:sldId id="294" r:id="rId48"/>
    <p:sldId id="305" r:id="rId49"/>
    <p:sldId id="295" r:id="rId50"/>
    <p:sldId id="297" r:id="rId51"/>
    <p:sldId id="268" r:id="rId52"/>
    <p:sldId id="296" r:id="rId53"/>
    <p:sldId id="284" r:id="rId54"/>
    <p:sldId id="271" r:id="rId55"/>
    <p:sldId id="270" r:id="rId56"/>
    <p:sldId id="276" r:id="rId57"/>
    <p:sldId id="272" r:id="rId58"/>
    <p:sldId id="273" r:id="rId5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84" autoAdjust="0"/>
    <p:restoredTop sz="94737"/>
  </p:normalViewPr>
  <p:slideViewPr>
    <p:cSldViewPr snapToGrid="0">
      <p:cViewPr varScale="1">
        <p:scale>
          <a:sx n="104" d="100"/>
          <a:sy n="104" d="100"/>
        </p:scale>
        <p:origin x="6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FB2129-9EB1-4971-A283-D3CE7D84ABB3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CA2200-156B-4017-96FD-0CACFE3D05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1509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CA2200-156B-4017-96FD-0CACFE3D059A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15785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626CC-2464-3828-A5CD-C4B3148F9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8557743-9986-3F0A-7359-072550EB83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090BCED-48EC-EBD3-B2A8-D8A77C327F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C70D943-09B9-3235-D176-EEFA7B46BA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CA2200-156B-4017-96FD-0CACFE3D059A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97112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CA2200-156B-4017-96FD-0CACFE3D059A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9276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CA2200-156B-4017-96FD-0CACFE3D059A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70129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CA2200-156B-4017-96FD-0CACFE3D059A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39021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CA2200-156B-4017-96FD-0CACFE3D059A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27211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5BD1F6-3C96-439B-9745-4A58332FE1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0D3830D-11F3-8A55-CF27-D24C692FA8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4219A9-4787-0274-11C9-9006825B6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A4C02-C532-4D59-AED6-3D5644FC6644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6D26A3-0BB2-69D0-66E8-0895DFD61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8AE125-90A1-ECB1-DF9C-E18C7595E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3C57B-35AB-4BA6-A1C8-B48B8C1810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5114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A0A618-8FD7-4E34-2E35-57C3643C3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C950F8-33C3-9F94-7106-4ECDA64A98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9887B4-48B0-A26C-6335-653AF02D1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A4C02-C532-4D59-AED6-3D5644FC6644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6980A7-D6DF-C79B-2263-AD1B4B40A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A7D60E-5525-2B60-98EB-0D66CB326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3C57B-35AB-4BA6-A1C8-B48B8C1810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6547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454965-5E16-5060-29EA-565B93867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9AB783F-21FC-D97A-64A5-FAF5430F59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A503B2-839A-0F2F-A1A0-032CDEA18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A4C02-C532-4D59-AED6-3D5644FC6644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069D9B-1D05-7060-4C2C-6861B401E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994CDF-4412-16C8-3478-5113EA43D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3C57B-35AB-4BA6-A1C8-B48B8C1810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235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CA0669-7BFA-F34A-31A5-6A52BC03C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FF590E-2B4E-8158-E401-8EBF133B30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FF7278B-F895-AA83-14E3-42F73515D8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8A895E9-8C0D-BD9A-C23E-E4081757F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A4C02-C532-4D59-AED6-3D5644FC6644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193B57F-7311-D110-BD3A-C482F1B62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DB8968E-63E8-B1A8-C78C-4A67BF64E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3C57B-35AB-4BA6-A1C8-B48B8C1810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429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476B84-4C94-A136-0E3D-D20FDF1C8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3A90504-0C43-D22A-C7F7-EA86F30ADC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F3A27C2-3DA7-F0B5-96CE-7EB93E72F3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87084E7-E43C-BBAF-F32F-9FBBF54507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BB4D166-1A56-A7C4-F683-0B665CFD2A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9D23A80-4478-4FF4-6AB0-7CCAB9FE9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A4C02-C532-4D59-AED6-3D5644FC6644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0F79F53-BD06-0CE2-59CA-31C0138BD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55F8275-A454-E5E8-B9CB-11A031B89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3C57B-35AB-4BA6-A1C8-B48B8C1810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7547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3BC877-CAC4-B117-C826-1D404F6FC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AD23E53-FD30-B046-57E2-9BA4C5704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A4C02-C532-4D59-AED6-3D5644FC6644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7BA9300-E8AC-64F6-920B-6899EDA3C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E077226-6C19-7645-E867-6E9DEE793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3C57B-35AB-4BA6-A1C8-B48B8C1810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5813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ADE6F79-4400-162C-D4BB-D565AB986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A4C02-C532-4D59-AED6-3D5644FC6644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5712E01-2486-D80D-A1A1-8D1E84DB2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D28534-3E14-6317-682F-9C49E872C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3C57B-35AB-4BA6-A1C8-B48B8C1810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8374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813DA9-AEFA-E8A5-8604-26A21EEDC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6BD287-F840-2EB8-B6BE-963AB3EC0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2BFF8DB-DC39-2801-F34E-BA73BAC60D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C1A7EF8-BDA4-D9F8-7EE3-98F879AE5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A4C02-C532-4D59-AED6-3D5644FC6644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DFB3C2D-76DC-8240-49E7-85E2E0728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CB89BD7-C1F6-3974-A416-6A5FA26A8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3C57B-35AB-4BA6-A1C8-B48B8C1810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6892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826A6F-ABD7-CCC2-9B46-55DB8F8CE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8F671A9-EFD1-4F6A-CEC5-2C4E4F8C46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7E3A392-F09C-024F-84C0-94FE5D1A8C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ED6196C-591F-0827-F062-B3F4A56CB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A4C02-C532-4D59-AED6-3D5644FC6644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26B3213-1398-8F24-CC3D-947BD3ECC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27A7B98-5C36-8FB6-5334-BE3C3998A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3C57B-35AB-4BA6-A1C8-B48B8C1810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0343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8062C4-B4C2-4C5E-08A2-55BC60914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9042282-D585-DF6C-E9D1-B689CEA7A3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05072F-517B-1462-C141-E217FD213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A4C02-C532-4D59-AED6-3D5644FC6644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021C04-5589-7AD0-5E6F-650C78711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44BE13-4100-0BB5-852E-1A2D78758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3C57B-35AB-4BA6-A1C8-B48B8C1810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0799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41E1D8E-5057-AEBD-CF52-E595C101D1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8D3A261-44FC-65EC-DD7F-38FDAA6CE0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F33918-C08E-7EEB-3B4A-72E9ADF94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A4C02-C532-4D59-AED6-3D5644FC6644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960627-BCEA-562D-9760-D87A3F0B0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32F993-B7B1-729B-D493-ABF7FE990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3C57B-35AB-4BA6-A1C8-B48B8C1810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1134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99EAFA3-8C70-9442-3D83-AB47237C8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A6A3B4-59C4-B5FF-3747-D569053F2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48CED7-823F-3FDD-55CD-B02020A09A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DA4C02-C532-4D59-AED6-3D5644FC6644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9398EF-F52A-EB4E-F916-4D2DF2A12D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F26438-135A-3964-CCC3-822F745E3F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83C57B-35AB-4BA6-A1C8-B48B8C1810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5845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ftp.ebi.ac.uk/pub/databases/spot/pgs/resources/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9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91.png"/><Relationship Id="rId7" Type="http://schemas.openxmlformats.org/officeDocument/2006/relationships/image" Target="../media/image95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92.png"/><Relationship Id="rId9" Type="http://schemas.openxmlformats.org/officeDocument/2006/relationships/image" Target="../media/image97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3" Type="http://schemas.openxmlformats.org/officeDocument/2006/relationships/image" Target="../media/image99.png"/><Relationship Id="rId7" Type="http://schemas.openxmlformats.org/officeDocument/2006/relationships/image" Target="../media/image103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4" Type="http://schemas.openxmlformats.org/officeDocument/2006/relationships/image" Target="../media/image100.png"/><Relationship Id="rId9" Type="http://schemas.openxmlformats.org/officeDocument/2006/relationships/image" Target="../media/image10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977A89F-29A7-719F-6C55-46D8CB384F2A}"/>
              </a:ext>
            </a:extLst>
          </p:cNvPr>
          <p:cNvSpPr txBox="1"/>
          <p:nvPr/>
        </p:nvSpPr>
        <p:spPr>
          <a:xfrm>
            <a:off x="862219" y="2442640"/>
            <a:ext cx="6096000" cy="9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Preliminary Result</a:t>
            </a:r>
          </a:p>
        </p:txBody>
      </p:sp>
    </p:spTree>
    <p:extLst>
      <p:ext uri="{BB962C8B-B14F-4D97-AF65-F5344CB8AC3E}">
        <p14:creationId xmlns:p14="http://schemas.microsoft.com/office/powerpoint/2010/main" val="1379979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D80D6491-FD08-D51F-3B9E-81D0028DA4A7}"/>
              </a:ext>
            </a:extLst>
          </p:cNvPr>
          <p:cNvSpPr txBox="1"/>
          <p:nvPr/>
        </p:nvSpPr>
        <p:spPr>
          <a:xfrm>
            <a:off x="237068" y="0"/>
            <a:ext cx="6096000" cy="9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Trait &amp; PGS selection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AC8FAD2-752F-85F2-F5D2-B704B4BA757A}"/>
              </a:ext>
            </a:extLst>
          </p:cNvPr>
          <p:cNvSpPr txBox="1"/>
          <p:nvPr/>
        </p:nvSpPr>
        <p:spPr>
          <a:xfrm>
            <a:off x="363894" y="1278293"/>
            <a:ext cx="5896947" cy="33741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/>
              <a:t>On my local PC: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b="1" dirty="0"/>
              <a:t>Manually select 25 traits (identified by ICD10CM IDs).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b="1" dirty="0"/>
              <a:t>For each trait, search by PGS catalog API, retrieve all PGS IDs.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b="1" dirty="0"/>
              <a:t>For each PGS ID, search by PGS catalog API, filter by European ancestry, and get the corresponding URL with hmPOS_GRCh38. (838 PGS)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6938F330-9944-6B42-BA6F-B826A50F2E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0841" y="1278293"/>
            <a:ext cx="5677692" cy="4801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040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DDFCBB5-30D3-0F21-0A68-61102D3197D5}"/>
              </a:ext>
            </a:extLst>
          </p:cNvPr>
          <p:cNvSpPr txBox="1"/>
          <p:nvPr/>
        </p:nvSpPr>
        <p:spPr>
          <a:xfrm>
            <a:off x="237068" y="0"/>
            <a:ext cx="6096000" cy="9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PGS evaluation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982EFE2-C84C-B25B-DE7F-DFD0A557D859}"/>
              </a:ext>
            </a:extLst>
          </p:cNvPr>
          <p:cNvSpPr txBox="1"/>
          <p:nvPr/>
        </p:nvSpPr>
        <p:spPr>
          <a:xfrm>
            <a:off x="363893" y="1278293"/>
            <a:ext cx="9405258" cy="25431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/>
              <a:t>On All of Us workbench (Google Cloud Platform, GCP):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b="1" dirty="0"/>
              <a:t>Download, unzip, and prepare .score file for all PGS. (431 PGS)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b="1" dirty="0"/>
              <a:t>Push .score file to Google Cloud Bucket.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b="1" dirty="0"/>
              <a:t>Compute PGS score with multi-thread PLINK2 (16 thread, 3h 20min) (421 PGS)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b="1" dirty="0"/>
              <a:t>Prepare a binary outcome for the 25 traits, push to cloud.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altLang="zh-CN" b="1" dirty="0"/>
              <a:t>Compute AUC trait by trait (1 thread, 5 min)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0FD7E550-FD9D-6BD5-EB37-75DCC35AC644}"/>
              </a:ext>
            </a:extLst>
          </p:cNvPr>
          <p:cNvCxnSpPr>
            <a:cxnSpLocks/>
          </p:cNvCxnSpPr>
          <p:nvPr/>
        </p:nvCxnSpPr>
        <p:spPr>
          <a:xfrm flipV="1">
            <a:off x="6781448" y="2276669"/>
            <a:ext cx="0" cy="217170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5C442E96-6A85-BFD2-DA09-CA300C817727}"/>
              </a:ext>
            </a:extLst>
          </p:cNvPr>
          <p:cNvSpPr txBox="1"/>
          <p:nvPr/>
        </p:nvSpPr>
        <p:spPr>
          <a:xfrm>
            <a:off x="4573556" y="4446411"/>
            <a:ext cx="3200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Directly compute if in </a:t>
            </a:r>
            <a:r>
              <a:rPr lang="en-US" altLang="zh-CN" b="1" dirty="0" err="1">
                <a:solidFill>
                  <a:srgbClr val="FF0000"/>
                </a:solidFill>
              </a:rPr>
              <a:t>rsid</a:t>
            </a:r>
            <a:r>
              <a:rPr lang="en-US" altLang="zh-CN" b="1" dirty="0">
                <a:solidFill>
                  <a:srgbClr val="FF0000"/>
                </a:solidFill>
              </a:rPr>
              <a:t>. Dropped if in chromosome number &amp; loc. 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F7D72099-CE13-6E5C-6F0D-2FDBC3FC3CBD}"/>
              </a:ext>
            </a:extLst>
          </p:cNvPr>
          <p:cNvCxnSpPr>
            <a:cxnSpLocks/>
          </p:cNvCxnSpPr>
          <p:nvPr/>
        </p:nvCxnSpPr>
        <p:spPr>
          <a:xfrm flipH="1" flipV="1">
            <a:off x="8500187" y="2973001"/>
            <a:ext cx="33517" cy="23967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623BA157-7AF0-115D-B12C-C01EC462FCC4}"/>
              </a:ext>
            </a:extLst>
          </p:cNvPr>
          <p:cNvSpPr txBox="1"/>
          <p:nvPr/>
        </p:nvSpPr>
        <p:spPr>
          <a:xfrm>
            <a:off x="6883744" y="5516133"/>
            <a:ext cx="3200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Dropped if none of the </a:t>
            </a:r>
            <a:r>
              <a:rPr lang="en-US" altLang="zh-CN" b="1" dirty="0" err="1">
                <a:solidFill>
                  <a:srgbClr val="FF0000"/>
                </a:solidFill>
              </a:rPr>
              <a:t>rsid</a:t>
            </a:r>
            <a:r>
              <a:rPr lang="en-US" altLang="zh-CN" b="1" dirty="0">
                <a:solidFill>
                  <a:srgbClr val="FF0000"/>
                </a:solidFill>
              </a:rPr>
              <a:t> in PGS is provided in All of Us </a:t>
            </a:r>
            <a:r>
              <a:rPr lang="en-US" altLang="zh-CN" b="1" dirty="0" err="1">
                <a:solidFill>
                  <a:srgbClr val="FF0000"/>
                </a:solidFill>
              </a:rPr>
              <a:t>srWGS</a:t>
            </a:r>
            <a:r>
              <a:rPr lang="en-US" altLang="zh-CN" b="1" dirty="0">
                <a:solidFill>
                  <a:srgbClr val="FF0000"/>
                </a:solidFill>
              </a:rPr>
              <a:t>.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A7EAFCAA-8839-1AEF-A011-E07598D17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2536" y="587524"/>
            <a:ext cx="1762371" cy="4782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387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4E9141A3-0806-0C9E-F9FF-ED4EE37480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51865"/>
            <a:ext cx="12192000" cy="2754269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B0DC4564-96E1-B34C-8B75-827D6BA057FC}"/>
              </a:ext>
            </a:extLst>
          </p:cNvPr>
          <p:cNvSpPr txBox="1"/>
          <p:nvPr/>
        </p:nvSpPr>
        <p:spPr>
          <a:xfrm>
            <a:off x="237068" y="0"/>
            <a:ext cx="6096000" cy="9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1181362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8F406-443C-5DE6-107B-1FE5F59B5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8E385ED6-8D97-C994-4F98-52E54238B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2326" y="0"/>
            <a:ext cx="7868817" cy="6845455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D1DBEA84-7610-F571-3B68-8B41C195698D}"/>
              </a:ext>
            </a:extLst>
          </p:cNvPr>
          <p:cNvSpPr txBox="1"/>
          <p:nvPr/>
        </p:nvSpPr>
        <p:spPr>
          <a:xfrm>
            <a:off x="317240" y="541176"/>
            <a:ext cx="25659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Avg PRS Performance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908747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D08F37B-7390-E03F-2C0E-A72C762DA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8368" y="38263"/>
            <a:ext cx="4166930" cy="678147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69B3870-962A-1348-B958-C473AA5A9C35}"/>
              </a:ext>
            </a:extLst>
          </p:cNvPr>
          <p:cNvSpPr txBox="1"/>
          <p:nvPr/>
        </p:nvSpPr>
        <p:spPr>
          <a:xfrm>
            <a:off x="279918" y="214605"/>
            <a:ext cx="3582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Best performing PRS for each trait and corresponding AUC</a:t>
            </a:r>
          </a:p>
        </p:txBody>
      </p:sp>
    </p:spTree>
    <p:extLst>
      <p:ext uri="{BB962C8B-B14F-4D97-AF65-F5344CB8AC3E}">
        <p14:creationId xmlns:p14="http://schemas.microsoft.com/office/powerpoint/2010/main" val="1061118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002CBD49-84DD-CEF0-D03B-1E2D8EE193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3747" y="0"/>
            <a:ext cx="8581983" cy="685800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EA14BD91-6EA2-CA3B-5845-1797D377103E}"/>
              </a:ext>
            </a:extLst>
          </p:cNvPr>
          <p:cNvSpPr txBox="1"/>
          <p:nvPr/>
        </p:nvSpPr>
        <p:spPr>
          <a:xfrm>
            <a:off x="279919" y="214605"/>
            <a:ext cx="287382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Top 50 PRS Performance</a:t>
            </a:r>
            <a:r>
              <a:rPr lang="zh-CN" altLang="en-US" b="1" dirty="0"/>
              <a:t> </a:t>
            </a:r>
            <a:r>
              <a:rPr lang="en-US" altLang="zh-CN" b="1" dirty="0"/>
              <a:t>for each trait </a:t>
            </a:r>
          </a:p>
          <a:p>
            <a:r>
              <a:rPr lang="en-US" altLang="zh-CN" b="1" dirty="0"/>
              <a:t>(Normalized to the best performing PRS)</a:t>
            </a:r>
          </a:p>
          <a:p>
            <a:r>
              <a:rPr lang="en-US" altLang="zh-CN" b="1" dirty="0"/>
              <a:t>And the percentage of self-PRS contained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F454FDB-C317-8254-9E30-11DF83223FC6}"/>
              </a:ext>
            </a:extLst>
          </p:cNvPr>
          <p:cNvSpPr txBox="1"/>
          <p:nvPr/>
        </p:nvSpPr>
        <p:spPr>
          <a:xfrm>
            <a:off x="1569411" y="5698284"/>
            <a:ext cx="14392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</a:rPr>
              <a:t>Crohn's disease</a:t>
            </a:r>
          </a:p>
        </p:txBody>
      </p:sp>
    </p:spTree>
    <p:extLst>
      <p:ext uri="{BB962C8B-B14F-4D97-AF65-F5344CB8AC3E}">
        <p14:creationId xmlns:p14="http://schemas.microsoft.com/office/powerpoint/2010/main" val="3169339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AC704E3-5D53-5054-1D2F-2050E7E5F0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3813" y="0"/>
            <a:ext cx="7778187" cy="6858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E7A8DE2-D4CC-8852-D6D3-CFA107E9D96B}"/>
              </a:ext>
            </a:extLst>
          </p:cNvPr>
          <p:cNvSpPr txBox="1"/>
          <p:nvPr/>
        </p:nvSpPr>
        <p:spPr>
          <a:xfrm>
            <a:off x="279919" y="214605"/>
            <a:ext cx="42734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Top 50 PRS set overlap between traits</a:t>
            </a:r>
          </a:p>
          <a:p>
            <a:r>
              <a:rPr lang="en-US" altLang="zh-CN" b="1" dirty="0"/>
              <a:t>(Jaccard Index)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52E4015-FE7E-81F9-0F3E-619D0F3AA5BA}"/>
              </a:ext>
            </a:extLst>
          </p:cNvPr>
          <p:cNvSpPr/>
          <p:nvPr/>
        </p:nvSpPr>
        <p:spPr>
          <a:xfrm>
            <a:off x="6096000" y="1178768"/>
            <a:ext cx="1946988" cy="193765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34551D6-FD5B-A28A-8862-ABCE40BCF802}"/>
              </a:ext>
            </a:extLst>
          </p:cNvPr>
          <p:cNvSpPr/>
          <p:nvPr/>
        </p:nvSpPr>
        <p:spPr>
          <a:xfrm>
            <a:off x="8403772" y="3429000"/>
            <a:ext cx="796212" cy="8350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18B09C1-EE32-F5BE-A153-44F42320C73F}"/>
              </a:ext>
            </a:extLst>
          </p:cNvPr>
          <p:cNvSpPr/>
          <p:nvPr/>
        </p:nvSpPr>
        <p:spPr>
          <a:xfrm>
            <a:off x="9097348" y="4141237"/>
            <a:ext cx="796212" cy="8350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D6DCFFD-4AEA-6A38-689A-A03A1CF43F50}"/>
              </a:ext>
            </a:extLst>
          </p:cNvPr>
          <p:cNvSpPr txBox="1"/>
          <p:nvPr/>
        </p:nvSpPr>
        <p:spPr>
          <a:xfrm>
            <a:off x="2333750" y="1421073"/>
            <a:ext cx="26172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Endocrine, nutritional, and metabolic diseases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CDC72DDE-A0EF-B968-5016-9657852D567D}"/>
              </a:ext>
            </a:extLst>
          </p:cNvPr>
          <p:cNvCxnSpPr>
            <a:cxnSpLocks/>
          </p:cNvCxnSpPr>
          <p:nvPr/>
        </p:nvCxnSpPr>
        <p:spPr>
          <a:xfrm>
            <a:off x="4413813" y="1728921"/>
            <a:ext cx="159510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C87BE039-F529-39E1-16A9-E43959119BCE}"/>
              </a:ext>
            </a:extLst>
          </p:cNvPr>
          <p:cNvSpPr txBox="1"/>
          <p:nvPr/>
        </p:nvSpPr>
        <p:spPr>
          <a:xfrm>
            <a:off x="2410970" y="3652149"/>
            <a:ext cx="26172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Circulatory system diseases</a:t>
            </a: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3B566236-53E0-9FAC-3DA3-826B5082DE1C}"/>
              </a:ext>
            </a:extLst>
          </p:cNvPr>
          <p:cNvCxnSpPr>
            <a:cxnSpLocks/>
          </p:cNvCxnSpPr>
          <p:nvPr/>
        </p:nvCxnSpPr>
        <p:spPr>
          <a:xfrm>
            <a:off x="4413813" y="3981062"/>
            <a:ext cx="382434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1D4A7C74-1AD6-5A59-7BF5-5AC81375A558}"/>
              </a:ext>
            </a:extLst>
          </p:cNvPr>
          <p:cNvSpPr txBox="1"/>
          <p:nvPr/>
        </p:nvSpPr>
        <p:spPr>
          <a:xfrm>
            <a:off x="2375457" y="4196433"/>
            <a:ext cx="2533822" cy="274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zh-CN" sz="1400" b="1" dirty="0">
                <a:solidFill>
                  <a:srgbClr val="FF0000"/>
                </a:solidFill>
              </a:rPr>
              <a:t>Respiratory system diseases</a:t>
            </a: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E117E392-2BFC-36B7-7501-506DE2EB71AD}"/>
              </a:ext>
            </a:extLst>
          </p:cNvPr>
          <p:cNvCxnSpPr>
            <a:cxnSpLocks/>
          </p:cNvCxnSpPr>
          <p:nvPr/>
        </p:nvCxnSpPr>
        <p:spPr>
          <a:xfrm>
            <a:off x="4413813" y="4558782"/>
            <a:ext cx="4487419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图片 29">
            <a:extLst>
              <a:ext uri="{FF2B5EF4-FFF2-40B4-BE49-F238E27FC236}">
                <a16:creationId xmlns:a16="http://schemas.microsoft.com/office/drawing/2014/main" id="{83D932AF-CE68-08BE-F2D7-4EAC55A2A6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041" y="1075541"/>
            <a:ext cx="1800476" cy="5068007"/>
          </a:xfrm>
          <a:prstGeom prst="rect">
            <a:avLst/>
          </a:prstGeom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A92136E0-AFC7-635B-C707-93CBA55EBF16}"/>
              </a:ext>
            </a:extLst>
          </p:cNvPr>
          <p:cNvSpPr txBox="1"/>
          <p:nvPr/>
        </p:nvSpPr>
        <p:spPr>
          <a:xfrm>
            <a:off x="2497379" y="883258"/>
            <a:ext cx="14952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</a:rPr>
              <a:t>Bipolar disorder</a:t>
            </a: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5C2A4E6C-EDF5-7746-B38C-80485B67C0FE}"/>
              </a:ext>
            </a:extLst>
          </p:cNvPr>
          <p:cNvCxnSpPr>
            <a:cxnSpLocks/>
            <a:stCxn id="32" idx="1"/>
          </p:cNvCxnSpPr>
          <p:nvPr/>
        </p:nvCxnSpPr>
        <p:spPr>
          <a:xfrm flipH="1">
            <a:off x="1918104" y="1037147"/>
            <a:ext cx="579275" cy="45628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8E7609C5-827E-048A-74D5-1370939EBA0D}"/>
              </a:ext>
            </a:extLst>
          </p:cNvPr>
          <p:cNvCxnSpPr>
            <a:cxnSpLocks/>
          </p:cNvCxnSpPr>
          <p:nvPr/>
        </p:nvCxnSpPr>
        <p:spPr>
          <a:xfrm flipH="1" flipV="1">
            <a:off x="2092228" y="5557500"/>
            <a:ext cx="598324" cy="50700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3321EB3F-41E2-2AF7-04D6-190E2277F98E}"/>
              </a:ext>
            </a:extLst>
          </p:cNvPr>
          <p:cNvSpPr txBox="1"/>
          <p:nvPr/>
        </p:nvSpPr>
        <p:spPr>
          <a:xfrm>
            <a:off x="2711197" y="5910618"/>
            <a:ext cx="7433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Cancer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A31D15F0-834F-5471-2341-06743F22C267}"/>
              </a:ext>
            </a:extLst>
          </p:cNvPr>
          <p:cNvCxnSpPr>
            <a:cxnSpLocks/>
          </p:cNvCxnSpPr>
          <p:nvPr/>
        </p:nvCxnSpPr>
        <p:spPr>
          <a:xfrm flipH="1">
            <a:off x="1971869" y="1234102"/>
            <a:ext cx="579275" cy="45628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4131678B-0DDD-18DB-B469-37D9BA3A490E}"/>
              </a:ext>
            </a:extLst>
          </p:cNvPr>
          <p:cNvSpPr txBox="1"/>
          <p:nvPr/>
        </p:nvSpPr>
        <p:spPr>
          <a:xfrm>
            <a:off x="2497378" y="1080213"/>
            <a:ext cx="14952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Obesity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1782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7254DCB-5512-A4A9-E0F6-8729E9D52107}"/>
              </a:ext>
            </a:extLst>
          </p:cNvPr>
          <p:cNvSpPr txBox="1"/>
          <p:nvPr/>
        </p:nvSpPr>
        <p:spPr>
          <a:xfrm>
            <a:off x="279919" y="214605"/>
            <a:ext cx="4273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PRS ranking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DC336A3-89C0-C4C5-7EF8-15F28836F5A6}"/>
              </a:ext>
            </a:extLst>
          </p:cNvPr>
          <p:cNvSpPr txBox="1"/>
          <p:nvPr/>
        </p:nvSpPr>
        <p:spPr>
          <a:xfrm>
            <a:off x="6006582" y="1503115"/>
            <a:ext cx="60975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</a:rPr>
              <a:t>Asthma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E38361FC-0C13-BF0F-3CD5-3A089BA9221B}"/>
              </a:ext>
            </a:extLst>
          </p:cNvPr>
          <p:cNvCxnSpPr>
            <a:cxnSpLocks/>
          </p:cNvCxnSpPr>
          <p:nvPr/>
        </p:nvCxnSpPr>
        <p:spPr>
          <a:xfrm>
            <a:off x="6830008" y="1675411"/>
            <a:ext cx="883959" cy="2243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7DDF1003-19EA-4619-7130-5EA533FA093F}"/>
              </a:ext>
            </a:extLst>
          </p:cNvPr>
          <p:cNvSpPr txBox="1"/>
          <p:nvPr/>
        </p:nvSpPr>
        <p:spPr>
          <a:xfrm>
            <a:off x="5540051" y="1988039"/>
            <a:ext cx="12899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</a:rPr>
              <a:t>Hypertension</a:t>
            </a: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172509AE-555C-BF46-5F7E-ADB859EBB454}"/>
              </a:ext>
            </a:extLst>
          </p:cNvPr>
          <p:cNvCxnSpPr>
            <a:cxnSpLocks/>
          </p:cNvCxnSpPr>
          <p:nvPr/>
        </p:nvCxnSpPr>
        <p:spPr>
          <a:xfrm>
            <a:off x="6830008" y="2188194"/>
            <a:ext cx="883959" cy="2243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片 15">
            <a:extLst>
              <a:ext uri="{FF2B5EF4-FFF2-40B4-BE49-F238E27FC236}">
                <a16:creationId xmlns:a16="http://schemas.microsoft.com/office/drawing/2014/main" id="{384A16D6-6FAE-984F-8F75-2637F94F5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2311" y="1428471"/>
            <a:ext cx="4153480" cy="4001058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0C388CF6-21EA-F63F-6FEC-3AC15AEAB8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209" y="1070308"/>
            <a:ext cx="5361155" cy="2358692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C22DC6B2-0C8A-D2FD-30FB-9277200C757A}"/>
              </a:ext>
            </a:extLst>
          </p:cNvPr>
          <p:cNvSpPr txBox="1"/>
          <p:nvPr/>
        </p:nvSpPr>
        <p:spPr>
          <a:xfrm>
            <a:off x="1174433" y="956636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b="1" i="0" dirty="0">
                <a:solidFill>
                  <a:srgbClr val="222222"/>
                </a:solidFill>
                <a:effectLst/>
                <a:latin typeface="Helvetica" panose="020B0604020202020204" pitchFamily="34" charset="0"/>
              </a:rPr>
              <a:t>PGS004439</a:t>
            </a:r>
            <a:endParaRPr lang="en-US" altLang="zh-CN" b="0" i="0" dirty="0">
              <a:solidFill>
                <a:srgbClr val="007C82"/>
              </a:solidFill>
              <a:effectLst/>
              <a:latin typeface="Helvetica" panose="020B0604020202020204" pitchFamily="34" charset="0"/>
            </a:endParaRP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B63D7D69-6C73-BFE1-29F5-4EF37A0C0D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919" y="3517317"/>
            <a:ext cx="5260132" cy="2886658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8F05C8B4-8B47-AF8E-C60E-4D00ADF537B2}"/>
              </a:ext>
            </a:extLst>
          </p:cNvPr>
          <p:cNvSpPr txBox="1"/>
          <p:nvPr/>
        </p:nvSpPr>
        <p:spPr>
          <a:xfrm>
            <a:off x="1174433" y="3444489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b="1" i="0" dirty="0">
                <a:solidFill>
                  <a:srgbClr val="222222"/>
                </a:solidFill>
                <a:effectLst/>
                <a:latin typeface="Helvetica" panose="020B0604020202020204" pitchFamily="34" charset="0"/>
              </a:rPr>
              <a:t>PGS004877</a:t>
            </a:r>
            <a:endParaRPr lang="en-US" altLang="zh-CN" b="0" i="0" dirty="0">
              <a:solidFill>
                <a:srgbClr val="007C82"/>
              </a:solidFill>
              <a:effectLst/>
              <a:latin typeface="Helvetica" panose="020B0604020202020204" pitchFamily="34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63FE25D-B036-FF46-0FFC-E669CB01046C}"/>
              </a:ext>
            </a:extLst>
          </p:cNvPr>
          <p:cNvSpPr txBox="1"/>
          <p:nvPr/>
        </p:nvSpPr>
        <p:spPr>
          <a:xfrm>
            <a:off x="6221186" y="3150708"/>
            <a:ext cx="6088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</a:rPr>
              <a:t>Gout</a:t>
            </a:r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F29A1632-B421-4EFF-A2A4-EBCA643810FA}"/>
              </a:ext>
            </a:extLst>
          </p:cNvPr>
          <p:cNvCxnSpPr>
            <a:cxnSpLocks/>
          </p:cNvCxnSpPr>
          <p:nvPr/>
        </p:nvCxnSpPr>
        <p:spPr>
          <a:xfrm>
            <a:off x="6830008" y="3429000"/>
            <a:ext cx="883959" cy="2243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0568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D55F5-A095-49FB-302E-FE854C0F6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BBEEAE7-8A7B-BE45-8734-481412181199}"/>
              </a:ext>
            </a:extLst>
          </p:cNvPr>
          <p:cNvSpPr txBox="1"/>
          <p:nvPr/>
        </p:nvSpPr>
        <p:spPr>
          <a:xfrm>
            <a:off x="862219" y="2442640"/>
            <a:ext cx="8505716" cy="9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AoU European Result</a:t>
            </a:r>
          </a:p>
        </p:txBody>
      </p:sp>
    </p:spTree>
    <p:extLst>
      <p:ext uri="{BB962C8B-B14F-4D97-AF65-F5344CB8AC3E}">
        <p14:creationId xmlns:p14="http://schemas.microsoft.com/office/powerpoint/2010/main" val="29865296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5CB8358-AB16-4677-2113-39228B83C3F4}"/>
              </a:ext>
            </a:extLst>
          </p:cNvPr>
          <p:cNvSpPr txBox="1"/>
          <p:nvPr/>
        </p:nvSpPr>
        <p:spPr>
          <a:xfrm>
            <a:off x="237067" y="0"/>
            <a:ext cx="9184023" cy="1000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Trait &amp; PGS selection (disease, binary)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941BCE8-D5AF-B615-0E75-EB11951C7EC4}"/>
              </a:ext>
            </a:extLst>
          </p:cNvPr>
          <p:cNvSpPr txBox="1"/>
          <p:nvPr/>
        </p:nvSpPr>
        <p:spPr>
          <a:xfrm>
            <a:off x="632150" y="1227690"/>
            <a:ext cx="10564584" cy="3782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 latinLnBrk="1">
              <a:lnSpc>
                <a:spcPct val="150000"/>
              </a:lnSpc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PGS traits selection:</a:t>
            </a:r>
          </a:p>
          <a:p>
            <a:pPr marL="342900" indent="-342900" fontAlgn="base" latinLnBrk="1">
              <a:lnSpc>
                <a:spcPct val="150000"/>
              </a:lnSpc>
              <a:buFontTx/>
              <a:buAutoNum type="arabicPeriod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 all traits within the list of categories (ontology identifier, #traits = 260): ["Cancer", "Cardiovascular disease", "Digestive system disorder", "Immune system disorder", "Metabolic disorder", "Neurological disorder", "Other disease“]</a:t>
            </a:r>
          </a:p>
          <a:p>
            <a:pPr marL="342900" indent="-342900" fontAlgn="base" latinLnBrk="1">
              <a:lnSpc>
                <a:spcPct val="150000"/>
              </a:lnSpc>
              <a:buFontTx/>
              <a:buAutoNum type="arabicPeriod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 ontology with ICD10CM IDs by terms, manually check, and drop vague traits (#traits = 229, #ICD10CM Root = 140, #ICD10CM Children = 180).</a:t>
            </a:r>
          </a:p>
          <a:p>
            <a:pPr marL="342900" indent="-342900" fontAlgn="base" latinLnBrk="1">
              <a:lnSpc>
                <a:spcPct val="150000"/>
              </a:lnSpc>
              <a:buFontTx/>
              <a:buAutoNum type="arabicPeriod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trait, search by the PGS catalog API, and retrieve all PGS IDs.</a:t>
            </a:r>
          </a:p>
          <a:p>
            <a:pPr marL="342900" indent="-342900" fontAlgn="base" latinLnBrk="1">
              <a:lnSpc>
                <a:spcPct val="150000"/>
              </a:lnSpc>
              <a:buFontTx/>
              <a:buAutoNum type="arabicPeriod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PGS ID, search by PGS catalog API and get the corresponding URL with hmPOS_GRCh38 (#PGS = 1839). 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D28C26C-43F0-A4C2-48B3-2B4527F324FF}"/>
              </a:ext>
            </a:extLst>
          </p:cNvPr>
          <p:cNvSpPr txBox="1"/>
          <p:nvPr/>
        </p:nvSpPr>
        <p:spPr>
          <a:xfrm>
            <a:off x="632150" y="5009751"/>
            <a:ext cx="10032739" cy="1289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 latinLnBrk="1">
              <a:lnSpc>
                <a:spcPct val="150000"/>
              </a:lnSpc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European sample size: 151,123</a:t>
            </a:r>
          </a:p>
          <a:p>
            <a:pPr fontAlgn="base" latinLnBrk="1">
              <a:lnSpc>
                <a:spcPct val="150000"/>
              </a:lnSpc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Traits: #ICD10CM Root = 140, #ICD10CM Children = 180</a:t>
            </a:r>
          </a:p>
          <a:p>
            <a:pPr fontAlgn="base" latinLnBrk="1">
              <a:lnSpc>
                <a:spcPct val="150000"/>
              </a:lnSpc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PGS: #PGS IDs = 1839</a:t>
            </a:r>
          </a:p>
        </p:txBody>
      </p:sp>
    </p:spTree>
    <p:extLst>
      <p:ext uri="{BB962C8B-B14F-4D97-AF65-F5344CB8AC3E}">
        <p14:creationId xmlns:p14="http://schemas.microsoft.com/office/powerpoint/2010/main" val="29200921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E29AA-1521-AFA6-F80F-72759B330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7518C70-76BA-1683-20D4-59CB2E81E867}"/>
              </a:ext>
            </a:extLst>
          </p:cNvPr>
          <p:cNvSpPr txBox="1"/>
          <p:nvPr/>
        </p:nvSpPr>
        <p:spPr>
          <a:xfrm>
            <a:off x="237067" y="0"/>
            <a:ext cx="11954933" cy="9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Trait &amp; PGS selection (measurement, continuous)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1FB4769-EA4D-4A33-B7A0-F5761EF21C59}"/>
              </a:ext>
            </a:extLst>
          </p:cNvPr>
          <p:cNvSpPr txBox="1"/>
          <p:nvPr/>
        </p:nvSpPr>
        <p:spPr>
          <a:xfrm>
            <a:off x="632150" y="1227690"/>
            <a:ext cx="10564584" cy="3366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 latinLnBrk="1">
              <a:lnSpc>
                <a:spcPct val="150000"/>
              </a:lnSpc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PGS traits selection:</a:t>
            </a:r>
          </a:p>
          <a:p>
            <a:pPr marL="342900" indent="-342900" fontAlgn="base" latinLnBrk="1">
              <a:lnSpc>
                <a:spcPct val="150000"/>
              </a:lnSpc>
              <a:buFontTx/>
              <a:buAutoNum type="arabicPeriod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 all traits within the list of categories (ontology identifier, #traits = 66): ["Body measurement", "Cardiovascular measurement", "Hematological measurement",  "Inflammatory measurement", "Lipid or lipoprotein measurement"]</a:t>
            </a:r>
          </a:p>
          <a:p>
            <a:pPr marL="342900" indent="-342900" fontAlgn="base" latinLnBrk="1">
              <a:lnSpc>
                <a:spcPct val="150000"/>
              </a:lnSpc>
              <a:buFontTx/>
              <a:buAutoNum type="arabicPeriod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 ontology with LOINC IDs by terms, manually check, and drop vague traits (#traits = 42, #LOINC = 42).</a:t>
            </a:r>
          </a:p>
          <a:p>
            <a:pPr marL="342900" indent="-342900" fontAlgn="base" latinLnBrk="1">
              <a:lnSpc>
                <a:spcPct val="150000"/>
              </a:lnSpc>
              <a:buFontTx/>
              <a:buAutoNum type="arabicPeriod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trait, search by the PGS catalog API, and retrieve all PGS IDs.</a:t>
            </a:r>
          </a:p>
          <a:p>
            <a:pPr marL="342900" indent="-342900" fontAlgn="base" latinLnBrk="1">
              <a:lnSpc>
                <a:spcPct val="150000"/>
              </a:lnSpc>
              <a:buFontTx/>
              <a:buAutoNum type="arabicPeriod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PGS ID, search by PGS catalog API and get the corresponding URL with hmPOS_GRCh38 (#PGS = 1155). 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BFAF741-F019-386A-66F1-B2105E7B3973}"/>
              </a:ext>
            </a:extLst>
          </p:cNvPr>
          <p:cNvSpPr txBox="1"/>
          <p:nvPr/>
        </p:nvSpPr>
        <p:spPr>
          <a:xfrm>
            <a:off x="632150" y="5009751"/>
            <a:ext cx="10032739" cy="1289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 latinLnBrk="1">
              <a:lnSpc>
                <a:spcPct val="150000"/>
              </a:lnSpc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European sample size: 151,123</a:t>
            </a:r>
          </a:p>
          <a:p>
            <a:pPr fontAlgn="base" latinLnBrk="1">
              <a:lnSpc>
                <a:spcPct val="150000"/>
              </a:lnSpc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Traits: #LOINC = 42</a:t>
            </a:r>
          </a:p>
          <a:p>
            <a:pPr fontAlgn="base" latinLnBrk="1">
              <a:lnSpc>
                <a:spcPct val="150000"/>
              </a:lnSpc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PGS: #PGS IDs = 1155</a:t>
            </a:r>
          </a:p>
        </p:txBody>
      </p:sp>
    </p:spTree>
    <p:extLst>
      <p:ext uri="{BB962C8B-B14F-4D97-AF65-F5344CB8AC3E}">
        <p14:creationId xmlns:p14="http://schemas.microsoft.com/office/powerpoint/2010/main" val="29386615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653548C0-AAF3-C458-7D3D-3AA8FF48A8A7}"/>
              </a:ext>
            </a:extLst>
          </p:cNvPr>
          <p:cNvSpPr txBox="1"/>
          <p:nvPr/>
        </p:nvSpPr>
        <p:spPr>
          <a:xfrm>
            <a:off x="524847" y="1278630"/>
            <a:ext cx="11278377" cy="249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PCA Computation (Instead of using loading data):</a:t>
            </a:r>
          </a:p>
          <a:p>
            <a:pPr algn="l">
              <a:lnSpc>
                <a:spcPct val="15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compute PCs, we pruned autosomal variants with MAF &gt;1% across the pooled dataset, using an 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𝑟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 threshold of 0.1, a window size of 500kb with PLINK2 (--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indep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-pairwise). The first 10 PCs were then computed separately within each genetic ancestry group and within the pooled dataset using PLINK2 (--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pca-approx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Dias, J. A (2025). Evaluating multi-ancestry genome-wide association methods: Statistical power, population structure, and practical implications. </a:t>
            </a:r>
            <a:r>
              <a:rPr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American Journal of Human Genetics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112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(10), 2493-2508</a:t>
            </a:r>
            <a:r>
              <a:rPr lang="en-US" altLang="zh-CN" dirty="0"/>
              <a:t>.</a:t>
            </a:r>
            <a:endParaRPr lang="en-US" altLang="zh-CN" sz="1400" b="1" dirty="0">
              <a:solidFill>
                <a:srgbClr val="1B1B1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2AC6094-DDD1-EBF0-E796-6F8D89894293}"/>
              </a:ext>
            </a:extLst>
          </p:cNvPr>
          <p:cNvSpPr txBox="1"/>
          <p:nvPr/>
        </p:nvSpPr>
        <p:spPr>
          <a:xfrm>
            <a:off x="237067" y="0"/>
            <a:ext cx="10765229" cy="9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Trait &amp; PGS selection (preprocess)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A305E50-C0F3-B6B3-CD7D-5DFFBC90C579}"/>
              </a:ext>
            </a:extLst>
          </p:cNvPr>
          <p:cNvSpPr txBox="1"/>
          <p:nvPr/>
        </p:nvSpPr>
        <p:spPr>
          <a:xfrm>
            <a:off x="524846" y="4066198"/>
            <a:ext cx="11278377" cy="1704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AoU Trait Preprocess:</a:t>
            </a:r>
          </a:p>
          <a:p>
            <a:pPr marL="342900" indent="-342900" algn="l">
              <a:lnSpc>
                <a:spcPct val="150000"/>
              </a:lnSpc>
              <a:buAutoNum type="arabicPeriod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traits are organized in ICD10CM Children code. Continuous traits are organized in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Loinc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code.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Cutoff by case number bigger than 10 (# of available ICD10CM = 16056, # of available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Loinc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2731)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 code case is retrieved by combining all children’s code (e.g., I10.1 + I10.3 + … = I10)</a:t>
            </a:r>
          </a:p>
        </p:txBody>
      </p:sp>
    </p:spTree>
    <p:extLst>
      <p:ext uri="{BB962C8B-B14F-4D97-AF65-F5344CB8AC3E}">
        <p14:creationId xmlns:p14="http://schemas.microsoft.com/office/powerpoint/2010/main" val="38933064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822E72D-7A6E-C2FA-5F4D-D4A6E20E99B1}"/>
              </a:ext>
            </a:extLst>
          </p:cNvPr>
          <p:cNvSpPr txBox="1"/>
          <p:nvPr/>
        </p:nvSpPr>
        <p:spPr>
          <a:xfrm>
            <a:off x="237067" y="0"/>
            <a:ext cx="8774197" cy="9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Trait &amp; PGS selection (preprocess)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3A81DFB-9FEA-4AA1-B486-3E0C93925D2C}"/>
              </a:ext>
            </a:extLst>
          </p:cNvPr>
          <p:cNvSpPr txBox="1"/>
          <p:nvPr/>
        </p:nvSpPr>
        <p:spPr>
          <a:xfrm>
            <a:off x="456811" y="1042318"/>
            <a:ext cx="11278377" cy="2535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AoU 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srWGS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preprocess:</a:t>
            </a:r>
          </a:p>
          <a:p>
            <a:pPr algn="l"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All of Us WGS ACAF dataset is too large to be easily used in PGS calculations. To overcome this, we will first extract a subset of variants using a custom list containing the most relevant genomic positions for PGS calculation (pgsc_all+hm3_variants_hg38_[DATE].txt.gz, available from the 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resources folder on our FTP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This file comprises merged data representing ~17.9 million genomic positions extracted from ~5,000 PGS Catalog scoring files and the HapMap3+ dataset.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BD0849C-8538-5196-D459-7DC507B0C385}"/>
              </a:ext>
            </a:extLst>
          </p:cNvPr>
          <p:cNvSpPr txBox="1"/>
          <p:nvPr/>
        </p:nvSpPr>
        <p:spPr>
          <a:xfrm>
            <a:off x="456811" y="3577884"/>
            <a:ext cx="9629581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PGS score computation: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PGS Catalog Calculator.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 batch with each batch ~200 PGS (~13h) (2135 PGS -- &gt; 1846 PGS)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3C47421-CF47-DB84-C3A1-44B19C813FC3}"/>
              </a:ext>
            </a:extLst>
          </p:cNvPr>
          <p:cNvSpPr txBox="1"/>
          <p:nvPr/>
        </p:nvSpPr>
        <p:spPr>
          <a:xfrm>
            <a:off x="456811" y="4451456"/>
            <a:ext cx="11278377" cy="2120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matrix score computation (adjust for sex, age, and top 10 PCs):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Traits: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Adjusted AUC: The 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roc.binary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function within the R package RISCA. 200 batch with each batch 5 PGS (~1h); Conditional OR; 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Traits: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Adjusted Beta; Incremental R2</a:t>
            </a:r>
          </a:p>
          <a:p>
            <a:pPr>
              <a:lnSpc>
                <a:spcPct val="150000"/>
              </a:lnSpc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36BAAAE-B94E-1934-B422-CAAFB287FA49}"/>
              </a:ext>
            </a:extLst>
          </p:cNvPr>
          <p:cNvSpPr txBox="1"/>
          <p:nvPr/>
        </p:nvSpPr>
        <p:spPr>
          <a:xfrm>
            <a:off x="456811" y="6142946"/>
            <a:ext cx="9629581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 quality control: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cases &gt; 200.</a:t>
            </a:r>
          </a:p>
        </p:txBody>
      </p:sp>
    </p:spTree>
    <p:extLst>
      <p:ext uri="{BB962C8B-B14F-4D97-AF65-F5344CB8AC3E}">
        <p14:creationId xmlns:p14="http://schemas.microsoft.com/office/powerpoint/2010/main" val="34148522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240FF37-2DD1-B5C1-DEFD-D1823613E41A}"/>
              </a:ext>
            </a:extLst>
          </p:cNvPr>
          <p:cNvSpPr txBox="1"/>
          <p:nvPr/>
        </p:nvSpPr>
        <p:spPr>
          <a:xfrm>
            <a:off x="237067" y="0"/>
            <a:ext cx="8774197" cy="9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Trait &amp; PGS selection (summary)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0FB5122-468A-C6E2-88F5-EDD561853BBE}"/>
              </a:ext>
            </a:extLst>
          </p:cNvPr>
          <p:cNvSpPr txBox="1"/>
          <p:nvPr/>
        </p:nvSpPr>
        <p:spPr>
          <a:xfrm>
            <a:off x="615746" y="1867647"/>
            <a:ext cx="901495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Traits (Identified by ICD10CM):</a:t>
            </a:r>
          </a:p>
          <a:p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Traits = 124,  #PGS =  3087, Performance Metrics: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Conditional OR; Adjusted AUC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Traits (Identified by LOINC): </a:t>
            </a:r>
          </a:p>
          <a:p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Traits = 36,  #PGS =  3087, Performance Metrics: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Adjusted Beta; Incremental R2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92558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F3E16-25D6-44AE-A4DC-DD1FBC667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70550E4-AD11-89AF-5E91-E056D811A940}"/>
              </a:ext>
            </a:extLst>
          </p:cNvPr>
          <p:cNvSpPr txBox="1"/>
          <p:nvPr/>
        </p:nvSpPr>
        <p:spPr>
          <a:xfrm>
            <a:off x="862219" y="2442640"/>
            <a:ext cx="8505716" cy="9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 Binary Traits</a:t>
            </a:r>
          </a:p>
        </p:txBody>
      </p:sp>
    </p:spTree>
    <p:extLst>
      <p:ext uri="{BB962C8B-B14F-4D97-AF65-F5344CB8AC3E}">
        <p14:creationId xmlns:p14="http://schemas.microsoft.com/office/powerpoint/2010/main" val="32974001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BC1DED30-EF1A-5B6C-1C7A-E0AEC9A442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184" y="1784505"/>
            <a:ext cx="6668252" cy="413600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38D841A-6DA6-B675-4CFB-8E52E5E18933}"/>
              </a:ext>
            </a:extLst>
          </p:cNvPr>
          <p:cNvSpPr txBox="1"/>
          <p:nvPr/>
        </p:nvSpPr>
        <p:spPr>
          <a:xfrm>
            <a:off x="10395283" y="4538344"/>
            <a:ext cx="16290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D64 I49 M47 R94</a:t>
            </a:r>
          </a:p>
        </p:txBody>
      </p:sp>
      <p:cxnSp>
        <p:nvCxnSpPr>
          <p:cNvPr id="11" name="直接箭头连接符 8">
            <a:extLst>
              <a:ext uri="{FF2B5EF4-FFF2-40B4-BE49-F238E27FC236}">
                <a16:creationId xmlns:a16="http://schemas.microsoft.com/office/drawing/2014/main" id="{3DAFB047-D179-610E-4B8E-531B1C1FDF2D}"/>
              </a:ext>
            </a:extLst>
          </p:cNvPr>
          <p:cNvCxnSpPr>
            <a:cxnSpLocks/>
          </p:cNvCxnSpPr>
          <p:nvPr/>
        </p:nvCxnSpPr>
        <p:spPr>
          <a:xfrm flipH="1">
            <a:off x="11316137" y="4866384"/>
            <a:ext cx="267711" cy="34542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192BEDA7-22C4-3CF9-ED28-67DE69FF4765}"/>
              </a:ext>
            </a:extLst>
          </p:cNvPr>
          <p:cNvSpPr txBox="1"/>
          <p:nvPr/>
        </p:nvSpPr>
        <p:spPr>
          <a:xfrm>
            <a:off x="364227" y="314135"/>
            <a:ext cx="11219621" cy="881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Most traits’ best performing PGS is their target PGS or trained for traits within the same chapter (59.2%)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Most traits’ best performing target PGS appears with in top10 performing PGS (55.1%)</a:t>
            </a:r>
            <a:endParaRPr lang="zh-CN" altLang="en-US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C18900F-795B-8BC4-EEFA-4A6242321A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209" y="1784505"/>
            <a:ext cx="4781975" cy="3971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3602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7C316B5-C98F-9EA9-477C-6FC47C61B19A}"/>
              </a:ext>
            </a:extLst>
          </p:cNvPr>
          <p:cNvSpPr txBox="1"/>
          <p:nvPr/>
        </p:nvSpPr>
        <p:spPr>
          <a:xfrm>
            <a:off x="364228" y="314135"/>
            <a:ext cx="6120580" cy="465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Target PGS Distribution Per Trait</a:t>
            </a:r>
            <a:endParaRPr lang="zh-CN" altLang="en-US" b="1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3763EB7-E6AA-813D-B30D-7361D3BF9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6908" y="1126689"/>
            <a:ext cx="8002839" cy="4963787"/>
          </a:xfrm>
          <a:prstGeom prst="rect">
            <a:avLst/>
          </a:prstGeom>
        </p:spPr>
      </p:pic>
      <p:sp>
        <p:nvSpPr>
          <p:cNvPr id="6" name="文本框 7">
            <a:extLst>
              <a:ext uri="{FF2B5EF4-FFF2-40B4-BE49-F238E27FC236}">
                <a16:creationId xmlns:a16="http://schemas.microsoft.com/office/drawing/2014/main" id="{975969C0-FD67-4E7C-0903-C0BE9D8B4CDB}"/>
              </a:ext>
            </a:extLst>
          </p:cNvPr>
          <p:cNvSpPr txBox="1"/>
          <p:nvPr/>
        </p:nvSpPr>
        <p:spPr>
          <a:xfrm>
            <a:off x="8972543" y="4516681"/>
            <a:ext cx="4466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I10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cxnSp>
        <p:nvCxnSpPr>
          <p:cNvPr id="7" name="直接箭头连接符 8">
            <a:extLst>
              <a:ext uri="{FF2B5EF4-FFF2-40B4-BE49-F238E27FC236}">
                <a16:creationId xmlns:a16="http://schemas.microsoft.com/office/drawing/2014/main" id="{E18703C8-A94F-77D1-7E48-90D2EDAF1E6D}"/>
              </a:ext>
            </a:extLst>
          </p:cNvPr>
          <p:cNvCxnSpPr>
            <a:cxnSpLocks/>
          </p:cNvCxnSpPr>
          <p:nvPr/>
        </p:nvCxnSpPr>
        <p:spPr>
          <a:xfrm>
            <a:off x="9232216" y="4824459"/>
            <a:ext cx="187011" cy="38605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CB424765-0198-687A-C64E-481F7D1BEE7B}"/>
              </a:ext>
            </a:extLst>
          </p:cNvPr>
          <p:cNvSpPr txBox="1"/>
          <p:nvPr/>
        </p:nvSpPr>
        <p:spPr>
          <a:xfrm>
            <a:off x="8550569" y="4516681"/>
            <a:ext cx="4466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I25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40F44298-A2AC-A6F6-4B31-B383A4C834E2}"/>
              </a:ext>
            </a:extLst>
          </p:cNvPr>
          <p:cNvCxnSpPr>
            <a:cxnSpLocks/>
          </p:cNvCxnSpPr>
          <p:nvPr/>
        </p:nvCxnSpPr>
        <p:spPr>
          <a:xfrm>
            <a:off x="8810242" y="4824459"/>
            <a:ext cx="187011" cy="38605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11477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DF46D255-A1F7-D934-FE71-8D7CE7263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32715"/>
            <a:ext cx="12192000" cy="262528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ABD28991-6B85-43E1-AD14-A3EA871DEB7F}"/>
              </a:ext>
            </a:extLst>
          </p:cNvPr>
          <p:cNvSpPr txBox="1"/>
          <p:nvPr/>
        </p:nvSpPr>
        <p:spPr>
          <a:xfrm>
            <a:off x="364228" y="314135"/>
            <a:ext cx="6120580" cy="465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Trait case count distribution</a:t>
            </a:r>
            <a:endParaRPr lang="zh-CN" altLang="en-US" b="1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6AEB826-71DC-CA76-3EB4-561DB8362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42313"/>
            <a:ext cx="8050100" cy="3127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5129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42604D49-1E75-196E-1FE9-FD9072214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228" y="1969653"/>
            <a:ext cx="3797078" cy="3118539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E5D0A5D7-2BE7-66B6-53FE-EA36E73E1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1306" y="1955726"/>
            <a:ext cx="3869112" cy="3132466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B8741939-0412-814C-0E17-022C09D063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0418" y="1969653"/>
            <a:ext cx="3869112" cy="3132466"/>
          </a:xfrm>
          <a:prstGeom prst="rect">
            <a:avLst/>
          </a:prstGeom>
        </p:spPr>
      </p:pic>
      <p:sp>
        <p:nvSpPr>
          <p:cNvPr id="20" name="文本框 7">
            <a:extLst>
              <a:ext uri="{FF2B5EF4-FFF2-40B4-BE49-F238E27FC236}">
                <a16:creationId xmlns:a16="http://schemas.microsoft.com/office/drawing/2014/main" id="{2DB6374A-D886-9019-5EF7-067BF3E32116}"/>
              </a:ext>
            </a:extLst>
          </p:cNvPr>
          <p:cNvSpPr txBox="1"/>
          <p:nvPr/>
        </p:nvSpPr>
        <p:spPr>
          <a:xfrm>
            <a:off x="10809385" y="4078777"/>
            <a:ext cx="5193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C62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cxnSp>
        <p:nvCxnSpPr>
          <p:cNvPr id="21" name="直接箭头连接符 8">
            <a:extLst>
              <a:ext uri="{FF2B5EF4-FFF2-40B4-BE49-F238E27FC236}">
                <a16:creationId xmlns:a16="http://schemas.microsoft.com/office/drawing/2014/main" id="{33AE7002-8B3A-CE09-FB72-0E5A110318BB}"/>
              </a:ext>
            </a:extLst>
          </p:cNvPr>
          <p:cNvCxnSpPr>
            <a:cxnSpLocks/>
          </p:cNvCxnSpPr>
          <p:nvPr/>
        </p:nvCxnSpPr>
        <p:spPr>
          <a:xfrm>
            <a:off x="11221869" y="4386554"/>
            <a:ext cx="378739" cy="15860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7">
            <a:extLst>
              <a:ext uri="{FF2B5EF4-FFF2-40B4-BE49-F238E27FC236}">
                <a16:creationId xmlns:a16="http://schemas.microsoft.com/office/drawing/2014/main" id="{4ADB84E6-2D90-60E4-8604-1ACEF400E997}"/>
              </a:ext>
            </a:extLst>
          </p:cNvPr>
          <p:cNvSpPr txBox="1"/>
          <p:nvPr/>
        </p:nvSpPr>
        <p:spPr>
          <a:xfrm>
            <a:off x="3040107" y="3920175"/>
            <a:ext cx="5193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C62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cxnSp>
        <p:nvCxnSpPr>
          <p:cNvPr id="23" name="直接箭头连接符 8">
            <a:extLst>
              <a:ext uri="{FF2B5EF4-FFF2-40B4-BE49-F238E27FC236}">
                <a16:creationId xmlns:a16="http://schemas.microsoft.com/office/drawing/2014/main" id="{2B708F95-56AA-D531-1AD7-A67B4CA9C2A3}"/>
              </a:ext>
            </a:extLst>
          </p:cNvPr>
          <p:cNvCxnSpPr>
            <a:cxnSpLocks/>
          </p:cNvCxnSpPr>
          <p:nvPr/>
        </p:nvCxnSpPr>
        <p:spPr>
          <a:xfrm>
            <a:off x="3452591" y="4227952"/>
            <a:ext cx="378739" cy="15860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967554FD-B18B-10E3-8199-5434AB553AF5}"/>
              </a:ext>
            </a:extLst>
          </p:cNvPr>
          <p:cNvSpPr txBox="1"/>
          <p:nvPr/>
        </p:nvSpPr>
        <p:spPr>
          <a:xfrm>
            <a:off x="364228" y="314135"/>
            <a:ext cx="6120580" cy="465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Restrict available PGS to Target PGS (Adjusted AUC)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4723295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8F5B3BA5-4035-32DA-C266-1C5F3362272C}"/>
              </a:ext>
            </a:extLst>
          </p:cNvPr>
          <p:cNvSpPr txBox="1"/>
          <p:nvPr/>
        </p:nvSpPr>
        <p:spPr>
          <a:xfrm>
            <a:off x="246304" y="120073"/>
            <a:ext cx="10754205" cy="46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Best / Median / Worst in PGS rank is correlated with PGS meta information.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FD64B9F-8E0F-36CA-A1A3-76C82BC8946C}"/>
              </a:ext>
            </a:extLst>
          </p:cNvPr>
          <p:cNvSpPr txBox="1"/>
          <p:nvPr/>
        </p:nvSpPr>
        <p:spPr>
          <a:xfrm>
            <a:off x="322451" y="4741843"/>
            <a:ext cx="11232241" cy="1162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b="1" dirty="0"/>
              <a:t>The best PGS have significantly more variants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b="1" dirty="0"/>
              <a:t>The best PGS are released more recently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b="1" dirty="0"/>
              <a:t>The best PGS have higher reported Odds Ratio performance (controlled to European evaluation cohorts)</a:t>
            </a:r>
            <a:r>
              <a:rPr lang="zh-CN" altLang="en-US" sz="1600" b="1" dirty="0"/>
              <a:t> </a:t>
            </a:r>
            <a:endParaRPr lang="zh-CN" altLang="en-US" sz="16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2594F91-D923-1CF4-7942-F9D61B77DD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055" y="1378004"/>
            <a:ext cx="3563118" cy="29592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E83E578-AD15-AECB-9ECB-07B0EA32CC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8987" y="1378004"/>
            <a:ext cx="3563118" cy="295920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DDED87C6-A6C8-7137-9E6A-BC46CC5051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8829" y="1378004"/>
            <a:ext cx="3563118" cy="295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5569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6AF0D50-D40E-8631-E83B-FBB88C65A8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6941" y="1949400"/>
            <a:ext cx="3563118" cy="29592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A20516C-D8C7-FFD0-63B6-556EA65C47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2541" y="1949400"/>
            <a:ext cx="3563118" cy="29592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E9D7BC5E-FE5B-D915-76FF-C2E05BD5495A}"/>
              </a:ext>
            </a:extLst>
          </p:cNvPr>
          <p:cNvSpPr txBox="1"/>
          <p:nvPr/>
        </p:nvSpPr>
        <p:spPr>
          <a:xfrm>
            <a:off x="280820" y="5000462"/>
            <a:ext cx="11232241" cy="424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b="1" dirty="0"/>
              <a:t>Other performance matrices do not show significant correlation.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6297119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44B227F-3D24-2A81-8125-F9751A3106AF}"/>
              </a:ext>
            </a:extLst>
          </p:cNvPr>
          <p:cNvSpPr txBox="1"/>
          <p:nvPr/>
        </p:nvSpPr>
        <p:spPr>
          <a:xfrm>
            <a:off x="246304" y="120073"/>
            <a:ext cx="10754205" cy="46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Regression / Classification model treating metadata as predictors.</a:t>
            </a:r>
          </a:p>
        </p:txBody>
      </p:sp>
      <p:sp>
        <p:nvSpPr>
          <p:cNvPr id="7" name="文本框 7">
            <a:extLst>
              <a:ext uri="{FF2B5EF4-FFF2-40B4-BE49-F238E27FC236}">
                <a16:creationId xmlns:a16="http://schemas.microsoft.com/office/drawing/2014/main" id="{77C64F84-BDC5-75DC-78C3-DC7678E80F18}"/>
              </a:ext>
            </a:extLst>
          </p:cNvPr>
          <p:cNvSpPr txBox="1"/>
          <p:nvPr/>
        </p:nvSpPr>
        <p:spPr>
          <a:xfrm>
            <a:off x="9516294" y="585713"/>
            <a:ext cx="18536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Binary classification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cxnSp>
        <p:nvCxnSpPr>
          <p:cNvPr id="8" name="直接箭头连接符 8">
            <a:extLst>
              <a:ext uri="{FF2B5EF4-FFF2-40B4-BE49-F238E27FC236}">
                <a16:creationId xmlns:a16="http://schemas.microsoft.com/office/drawing/2014/main" id="{D5F01AA7-B678-A3F1-FD68-D84A4E683F1A}"/>
              </a:ext>
            </a:extLst>
          </p:cNvPr>
          <p:cNvCxnSpPr>
            <a:cxnSpLocks/>
          </p:cNvCxnSpPr>
          <p:nvPr/>
        </p:nvCxnSpPr>
        <p:spPr>
          <a:xfrm>
            <a:off x="9928778" y="893490"/>
            <a:ext cx="0" cy="35049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7">
            <a:extLst>
              <a:ext uri="{FF2B5EF4-FFF2-40B4-BE49-F238E27FC236}">
                <a16:creationId xmlns:a16="http://schemas.microsoft.com/office/drawing/2014/main" id="{0B2CED4E-FF10-3AC7-755D-9B271BB0C61B}"/>
              </a:ext>
            </a:extLst>
          </p:cNvPr>
          <p:cNvSpPr txBox="1"/>
          <p:nvPr/>
        </p:nvSpPr>
        <p:spPr>
          <a:xfrm>
            <a:off x="7582229" y="585713"/>
            <a:ext cx="21403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Continuous Regression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cxnSp>
        <p:nvCxnSpPr>
          <p:cNvPr id="11" name="直接箭头连接符 8">
            <a:extLst>
              <a:ext uri="{FF2B5EF4-FFF2-40B4-BE49-F238E27FC236}">
                <a16:creationId xmlns:a16="http://schemas.microsoft.com/office/drawing/2014/main" id="{F06E03C7-9BD8-30A9-A977-01643D263146}"/>
              </a:ext>
            </a:extLst>
          </p:cNvPr>
          <p:cNvCxnSpPr>
            <a:cxnSpLocks/>
          </p:cNvCxnSpPr>
          <p:nvPr/>
        </p:nvCxnSpPr>
        <p:spPr>
          <a:xfrm>
            <a:off x="9272682" y="893490"/>
            <a:ext cx="0" cy="35049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左大括号 12">
            <a:extLst>
              <a:ext uri="{FF2B5EF4-FFF2-40B4-BE49-F238E27FC236}">
                <a16:creationId xmlns:a16="http://schemas.microsoft.com/office/drawing/2014/main" id="{EB8DFA23-704B-E293-8764-664D6BA39D74}"/>
              </a:ext>
            </a:extLst>
          </p:cNvPr>
          <p:cNvSpPr/>
          <p:nvPr/>
        </p:nvSpPr>
        <p:spPr>
          <a:xfrm rot="5400000">
            <a:off x="5306117" y="-2362160"/>
            <a:ext cx="173769" cy="6859641"/>
          </a:xfrm>
          <a:prstGeom prst="lef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7">
            <a:extLst>
              <a:ext uri="{FF2B5EF4-FFF2-40B4-BE49-F238E27FC236}">
                <a16:creationId xmlns:a16="http://schemas.microsoft.com/office/drawing/2014/main" id="{279B4128-3C74-9496-C1BA-FA3059EF378F}"/>
              </a:ext>
            </a:extLst>
          </p:cNvPr>
          <p:cNvSpPr txBox="1"/>
          <p:nvPr/>
        </p:nvSpPr>
        <p:spPr>
          <a:xfrm>
            <a:off x="4863264" y="633616"/>
            <a:ext cx="10715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Predictors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sp>
        <p:nvSpPr>
          <p:cNvPr id="15" name="左大括号 14">
            <a:extLst>
              <a:ext uri="{FF2B5EF4-FFF2-40B4-BE49-F238E27FC236}">
                <a16:creationId xmlns:a16="http://schemas.microsoft.com/office/drawing/2014/main" id="{8C6CE2EA-E88A-27DA-6689-2680084B63A2}"/>
              </a:ext>
            </a:extLst>
          </p:cNvPr>
          <p:cNvSpPr/>
          <p:nvPr/>
        </p:nvSpPr>
        <p:spPr>
          <a:xfrm rot="10800000">
            <a:off x="10684919" y="1533236"/>
            <a:ext cx="158572" cy="2179782"/>
          </a:xfrm>
          <a:prstGeom prst="lef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D5BBF8C8-49BF-5FE3-4AA1-C03D44205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796" y="1280450"/>
            <a:ext cx="10812768" cy="5268132"/>
          </a:xfrm>
          <a:prstGeom prst="rect">
            <a:avLst/>
          </a:prstGeom>
        </p:spPr>
      </p:pic>
      <p:cxnSp>
        <p:nvCxnSpPr>
          <p:cNvPr id="20" name="直接箭头连接符 8">
            <a:extLst>
              <a:ext uri="{FF2B5EF4-FFF2-40B4-BE49-F238E27FC236}">
                <a16:creationId xmlns:a16="http://schemas.microsoft.com/office/drawing/2014/main" id="{C066877D-8C39-3E82-A7C0-88C82A5526E3}"/>
              </a:ext>
            </a:extLst>
          </p:cNvPr>
          <p:cNvCxnSpPr>
            <a:cxnSpLocks/>
          </p:cNvCxnSpPr>
          <p:nvPr/>
        </p:nvCxnSpPr>
        <p:spPr>
          <a:xfrm>
            <a:off x="9928778" y="892411"/>
            <a:ext cx="383309" cy="35049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8">
            <a:extLst>
              <a:ext uri="{FF2B5EF4-FFF2-40B4-BE49-F238E27FC236}">
                <a16:creationId xmlns:a16="http://schemas.microsoft.com/office/drawing/2014/main" id="{63531CD7-C009-7B8A-6936-A31619C67D47}"/>
              </a:ext>
            </a:extLst>
          </p:cNvPr>
          <p:cNvCxnSpPr>
            <a:cxnSpLocks/>
          </p:cNvCxnSpPr>
          <p:nvPr/>
        </p:nvCxnSpPr>
        <p:spPr>
          <a:xfrm>
            <a:off x="9928778" y="900595"/>
            <a:ext cx="858205" cy="30151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07448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D4ED52A-721F-11D3-0649-2C421714A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5673" y="4025185"/>
            <a:ext cx="8700654" cy="268302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F413B72-92C1-51CA-59EE-4D16BDF549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5673" y="709103"/>
            <a:ext cx="8700654" cy="268302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622C3FE-A4B6-5E0D-5018-C734BA07FD3F}"/>
              </a:ext>
            </a:extLst>
          </p:cNvPr>
          <p:cNvSpPr txBox="1"/>
          <p:nvPr/>
        </p:nvSpPr>
        <p:spPr>
          <a:xfrm>
            <a:off x="246304" y="120073"/>
            <a:ext cx="10754205" cy="46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Classification model performance (select top 50% target PGS,</a:t>
            </a:r>
            <a:r>
              <a:rPr lang="zh-CN" altLang="en-US" b="1" dirty="0"/>
              <a:t> </a:t>
            </a:r>
            <a:r>
              <a:rPr lang="en-US" altLang="zh-CN" b="1" dirty="0"/>
              <a:t>cv=5).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3E29306-6E89-6F7E-EA72-B7D6F10B91FC}"/>
              </a:ext>
            </a:extLst>
          </p:cNvPr>
          <p:cNvSpPr txBox="1"/>
          <p:nvPr/>
        </p:nvSpPr>
        <p:spPr>
          <a:xfrm>
            <a:off x="246303" y="3399264"/>
            <a:ext cx="10754205" cy="46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Regression model performance.</a:t>
            </a:r>
          </a:p>
        </p:txBody>
      </p:sp>
    </p:spTree>
    <p:extLst>
      <p:ext uri="{BB962C8B-B14F-4D97-AF65-F5344CB8AC3E}">
        <p14:creationId xmlns:p14="http://schemas.microsoft.com/office/powerpoint/2010/main" val="4085197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5333C569-18F7-5A24-C0C1-77C703108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303" y="662317"/>
            <a:ext cx="8700654" cy="266958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C701E5D1-4462-220C-95A2-7D89F6513FE3}"/>
              </a:ext>
            </a:extLst>
          </p:cNvPr>
          <p:cNvSpPr txBox="1"/>
          <p:nvPr/>
        </p:nvSpPr>
        <p:spPr>
          <a:xfrm>
            <a:off x="246304" y="120073"/>
            <a:ext cx="10754205" cy="46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Classification model performance (select top 10% target PGS).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C285B89-D4D3-4A48-ADF3-C2FDF2E65B15}"/>
              </a:ext>
            </a:extLst>
          </p:cNvPr>
          <p:cNvSpPr txBox="1"/>
          <p:nvPr/>
        </p:nvSpPr>
        <p:spPr>
          <a:xfrm>
            <a:off x="246303" y="3408501"/>
            <a:ext cx="10754205" cy="46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Classification model performance (select the best target PGS).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47D01B5D-4661-A211-3647-3D4189F958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303" y="3950745"/>
            <a:ext cx="8700654" cy="2683021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93057EC0-76F0-17DF-4944-84CDF4F3FB42}"/>
              </a:ext>
            </a:extLst>
          </p:cNvPr>
          <p:cNvSpPr txBox="1"/>
          <p:nvPr/>
        </p:nvSpPr>
        <p:spPr>
          <a:xfrm>
            <a:off x="8946957" y="662317"/>
            <a:ext cx="3048000" cy="4103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200" b="1" dirty="0"/>
              <a:t>Overall </a:t>
            </a:r>
            <a:r>
              <a:rPr lang="en-US" altLang="zh-CN" sz="1200" b="1" dirty="0" err="1"/>
              <a:t>Recall@Best</a:t>
            </a:r>
            <a:r>
              <a:rPr lang="en-US" altLang="zh-CN" sz="1200" b="1" dirty="0"/>
              <a:t> : 0.1944 ± 0.4014 Overall </a:t>
            </a:r>
            <a:r>
              <a:rPr lang="en-US" altLang="zh-CN" sz="1200" b="1" dirty="0" err="1"/>
              <a:t>Precision@Best</a:t>
            </a:r>
            <a:r>
              <a:rPr lang="en-US" altLang="zh-CN" sz="1200" b="1" dirty="0"/>
              <a:t>: 0.1707 ± 0.3809 Mean overlap count : 0.17 / 0.88 </a:t>
            </a:r>
          </a:p>
          <a:p>
            <a:pPr>
              <a:lnSpc>
                <a:spcPct val="200000"/>
              </a:lnSpc>
            </a:pPr>
            <a:endParaRPr lang="en-US" altLang="zh-CN" sz="1200" b="1" dirty="0"/>
          </a:p>
          <a:p>
            <a:pPr>
              <a:lnSpc>
                <a:spcPct val="200000"/>
              </a:lnSpc>
            </a:pPr>
            <a:r>
              <a:rPr lang="en-US" altLang="zh-CN" sz="1200" b="1" dirty="0"/>
              <a:t>Overall Recall@10% : 0.2210 ± 0.3204 </a:t>
            </a:r>
          </a:p>
          <a:p>
            <a:pPr>
              <a:lnSpc>
                <a:spcPct val="200000"/>
              </a:lnSpc>
            </a:pPr>
            <a:r>
              <a:rPr lang="en-US" altLang="zh-CN" sz="1200" b="1" dirty="0"/>
              <a:t>Overall Precision@10% : 0.2163 ± 0.3208 </a:t>
            </a:r>
          </a:p>
          <a:p>
            <a:pPr>
              <a:lnSpc>
                <a:spcPct val="200000"/>
              </a:lnSpc>
            </a:pPr>
            <a:r>
              <a:rPr lang="en-US" altLang="zh-CN" sz="1200" b="1" dirty="0"/>
              <a:t>Mean overlap count : 0.83 / 4.34</a:t>
            </a:r>
          </a:p>
          <a:p>
            <a:pPr>
              <a:lnSpc>
                <a:spcPct val="200000"/>
              </a:lnSpc>
            </a:pPr>
            <a:endParaRPr lang="en-US" altLang="zh-CN" sz="1200" b="1" dirty="0"/>
          </a:p>
          <a:p>
            <a:pPr>
              <a:lnSpc>
                <a:spcPct val="200000"/>
              </a:lnSpc>
            </a:pPr>
            <a:r>
              <a:rPr lang="en-US" altLang="zh-CN" sz="1200" b="1" dirty="0"/>
              <a:t>Overall Recall@50% : 0.6833 ± 0.1508 </a:t>
            </a:r>
          </a:p>
          <a:p>
            <a:pPr>
              <a:lnSpc>
                <a:spcPct val="200000"/>
              </a:lnSpc>
            </a:pPr>
            <a:r>
              <a:rPr lang="en-US" altLang="zh-CN" sz="1200" b="1" dirty="0"/>
              <a:t>Overall Precision@50% : 0.6725 ± 0.1540 Mean overlap count : 15.02 / 22.63</a:t>
            </a:r>
            <a:endParaRPr lang="zh-CN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1916227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5C02681-E3E7-D4E1-01D3-6814802AB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37" y="1824351"/>
            <a:ext cx="5680363" cy="387927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5361E82-4292-A366-7219-C882C55354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4621" y="1824351"/>
            <a:ext cx="5680363" cy="387927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359A35B-87A8-1A6E-97E9-AE74E0714672}"/>
              </a:ext>
            </a:extLst>
          </p:cNvPr>
          <p:cNvSpPr txBox="1"/>
          <p:nvPr/>
        </p:nvSpPr>
        <p:spPr>
          <a:xfrm>
            <a:off x="163176" y="64655"/>
            <a:ext cx="10754205" cy="46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Regression model performance (pred Vs true label)</a:t>
            </a:r>
          </a:p>
        </p:txBody>
      </p:sp>
    </p:spTree>
    <p:extLst>
      <p:ext uri="{BB962C8B-B14F-4D97-AF65-F5344CB8AC3E}">
        <p14:creationId xmlns:p14="http://schemas.microsoft.com/office/powerpoint/2010/main" val="25187255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47033399-D788-D03A-818E-F14DF07209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2672"/>
            <a:ext cx="3947410" cy="60960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B0C613E-C2F0-DAA2-563F-8EB43AEC35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2294" y="602672"/>
            <a:ext cx="3947411" cy="609600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4E0868D-4979-0DF7-3737-23C0C98D72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4590" y="602672"/>
            <a:ext cx="3947410" cy="609600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35B44939-3085-868B-549A-8D2699C3E5EA}"/>
              </a:ext>
            </a:extLst>
          </p:cNvPr>
          <p:cNvSpPr txBox="1"/>
          <p:nvPr/>
        </p:nvSpPr>
        <p:spPr>
          <a:xfrm>
            <a:off x="163176" y="64655"/>
            <a:ext cx="10754205" cy="46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Regression model performance (R2 low, but Spearman r high, i.e., rank is good).</a:t>
            </a:r>
          </a:p>
        </p:txBody>
      </p:sp>
    </p:spTree>
    <p:extLst>
      <p:ext uri="{BB962C8B-B14F-4D97-AF65-F5344CB8AC3E}">
        <p14:creationId xmlns:p14="http://schemas.microsoft.com/office/powerpoint/2010/main" val="42161780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2A9B470F-4D48-A9C9-3785-D52C40B72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7712" y="1207448"/>
            <a:ext cx="2984959" cy="228645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CA061962-FB60-5FB1-FFF3-625A34879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7713" y="3559039"/>
            <a:ext cx="2984959" cy="233931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79A36523-160B-B84B-AC56-E8DBCCCE8DEA}"/>
              </a:ext>
            </a:extLst>
          </p:cNvPr>
          <p:cNvSpPr txBox="1"/>
          <p:nvPr/>
        </p:nvSpPr>
        <p:spPr>
          <a:xfrm>
            <a:off x="246304" y="120073"/>
            <a:ext cx="10754205" cy="46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Particular traits show distinguishable results between target PGS / non-target PGS.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055FA3A-D55C-BD50-545D-246CD993B4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4093" y="1225962"/>
            <a:ext cx="3040196" cy="235263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2B9879C-B18F-DF6D-9595-116F0EC42438}"/>
              </a:ext>
            </a:extLst>
          </p:cNvPr>
          <p:cNvSpPr txBox="1"/>
          <p:nvPr/>
        </p:nvSpPr>
        <p:spPr>
          <a:xfrm>
            <a:off x="1266749" y="4207209"/>
            <a:ext cx="35649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Target PGS shows no advantage</a:t>
            </a:r>
            <a:endParaRPr lang="zh-CN" altLang="en-US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C8F42F2A-B03E-4E86-18DD-F0D9898930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4604" y="2326896"/>
            <a:ext cx="3181794" cy="323895"/>
          </a:xfrm>
          <a:prstGeom prst="rect">
            <a:avLst/>
          </a:prstGeom>
        </p:spPr>
      </p:pic>
      <p:cxnSp>
        <p:nvCxnSpPr>
          <p:cNvPr id="14" name="直接箭头连接符 8">
            <a:extLst>
              <a:ext uri="{FF2B5EF4-FFF2-40B4-BE49-F238E27FC236}">
                <a16:creationId xmlns:a16="http://schemas.microsoft.com/office/drawing/2014/main" id="{C248F448-0E52-B6F7-6149-AE1E97C61D13}"/>
              </a:ext>
            </a:extLst>
          </p:cNvPr>
          <p:cNvCxnSpPr>
            <a:cxnSpLocks/>
          </p:cNvCxnSpPr>
          <p:nvPr/>
        </p:nvCxnSpPr>
        <p:spPr>
          <a:xfrm flipV="1">
            <a:off x="3019721" y="3545718"/>
            <a:ext cx="383132" cy="55231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F6726F6F-A779-5F2F-FC29-3B9E0E01A3D6}"/>
              </a:ext>
            </a:extLst>
          </p:cNvPr>
          <p:cNvSpPr txBox="1"/>
          <p:nvPr/>
        </p:nvSpPr>
        <p:spPr>
          <a:xfrm>
            <a:off x="2435896" y="4960751"/>
            <a:ext cx="34044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Target PGS shows advantages</a:t>
            </a:r>
            <a:endParaRPr lang="zh-CN" altLang="en-US" dirty="0"/>
          </a:p>
        </p:txBody>
      </p:sp>
      <p:cxnSp>
        <p:nvCxnSpPr>
          <p:cNvPr id="21" name="直接箭头连接符 8">
            <a:extLst>
              <a:ext uri="{FF2B5EF4-FFF2-40B4-BE49-F238E27FC236}">
                <a16:creationId xmlns:a16="http://schemas.microsoft.com/office/drawing/2014/main" id="{0671A233-AAD9-24D5-F153-9D94717A36B8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5840362" y="3545718"/>
            <a:ext cx="2334997" cy="159969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8">
            <a:extLst>
              <a:ext uri="{FF2B5EF4-FFF2-40B4-BE49-F238E27FC236}">
                <a16:creationId xmlns:a16="http://schemas.microsoft.com/office/drawing/2014/main" id="{9B23818A-9B4E-DD8D-C4C9-45562F057073}"/>
              </a:ext>
            </a:extLst>
          </p:cNvPr>
          <p:cNvCxnSpPr>
            <a:cxnSpLocks/>
          </p:cNvCxnSpPr>
          <p:nvPr/>
        </p:nvCxnSpPr>
        <p:spPr>
          <a:xfrm flipV="1">
            <a:off x="6000833" y="5105160"/>
            <a:ext cx="2174526" cy="9207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95784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2895EF7-2974-26AF-6413-ABB6A0F37CB4}"/>
              </a:ext>
            </a:extLst>
          </p:cNvPr>
          <p:cNvSpPr txBox="1"/>
          <p:nvPr/>
        </p:nvSpPr>
        <p:spPr>
          <a:xfrm>
            <a:off x="246304" y="120073"/>
            <a:ext cx="10754205" cy="46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Selected trait set (N = 37) show similar results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EF39180-1FF5-F454-B3F2-45607C104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104" y="1901810"/>
            <a:ext cx="3563118" cy="29592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25B1AF4-7DFB-C041-5B02-08F8204A0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1193" y="1949400"/>
            <a:ext cx="3563118" cy="29592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B53E80D-C8B7-4011-6FE3-24E12951F5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5282" y="1949400"/>
            <a:ext cx="3563118" cy="295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087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EBD2A9DF-E8D5-A066-0AEF-B05D882FF68C}"/>
              </a:ext>
            </a:extLst>
          </p:cNvPr>
          <p:cNvSpPr txBox="1"/>
          <p:nvPr/>
        </p:nvSpPr>
        <p:spPr>
          <a:xfrm>
            <a:off x="246304" y="120073"/>
            <a:ext cx="10754205" cy="46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Selected trait set (N = 37) show similar results</a:t>
            </a: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0EE59BE8-7EE5-2337-1C1D-479F1A7AE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6275" y="1245455"/>
            <a:ext cx="7496175" cy="1636459"/>
          </a:xfrm>
          <a:prstGeom prst="rect">
            <a:avLst/>
          </a:prstGeom>
        </p:spPr>
      </p:pic>
      <p:pic>
        <p:nvPicPr>
          <p:cNvPr id="9" name="Picture 5">
            <a:extLst>
              <a:ext uri="{FF2B5EF4-FFF2-40B4-BE49-F238E27FC236}">
                <a16:creationId xmlns:a16="http://schemas.microsoft.com/office/drawing/2014/main" id="{BF19F3E3-A3D2-2376-FC27-C86CC19C4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18" y="4462906"/>
            <a:ext cx="11843682" cy="2299277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14F7C38-2689-F9C6-4905-B8B84B541E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493" y="840544"/>
            <a:ext cx="4054782" cy="3367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4869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F6BF20D7-ECA7-B4BB-6D1A-A27F6350A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1930" y="0"/>
            <a:ext cx="8400070" cy="68580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AA8694D0-1794-1CBD-E7A7-7A0D35BBC346}"/>
              </a:ext>
            </a:extLst>
          </p:cNvPr>
          <p:cNvSpPr txBox="1"/>
          <p:nvPr/>
        </p:nvSpPr>
        <p:spPr>
          <a:xfrm>
            <a:off x="264777" y="221673"/>
            <a:ext cx="3623732" cy="1296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Conditional OR presents a similar result with adjusted AUC (when dropping outliers)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139542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EF57B8F-F68D-EE3A-0DB2-555A9EF3D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069" y="2022781"/>
            <a:ext cx="3851910" cy="311853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6575B63-8BB6-3C0E-87FA-33DC2CF09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0979" y="2022781"/>
            <a:ext cx="3851910" cy="311853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D014A2F-1F6C-F712-F15D-E81677E299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2889" y="2022781"/>
            <a:ext cx="3851910" cy="3069385"/>
          </a:xfrm>
          <a:prstGeom prst="rect">
            <a:avLst/>
          </a:prstGeom>
        </p:spPr>
      </p:pic>
      <p:cxnSp>
        <p:nvCxnSpPr>
          <p:cNvPr id="13" name="直接箭头连接符 8">
            <a:extLst>
              <a:ext uri="{FF2B5EF4-FFF2-40B4-BE49-F238E27FC236}">
                <a16:creationId xmlns:a16="http://schemas.microsoft.com/office/drawing/2014/main" id="{76F04893-1621-F1D3-0E04-5D93AAC029B8}"/>
              </a:ext>
            </a:extLst>
          </p:cNvPr>
          <p:cNvCxnSpPr>
            <a:cxnSpLocks/>
          </p:cNvCxnSpPr>
          <p:nvPr/>
        </p:nvCxnSpPr>
        <p:spPr>
          <a:xfrm>
            <a:off x="11442417" y="4076749"/>
            <a:ext cx="121510" cy="4398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406B84D7-3424-B83C-2B7A-D1EA1483D8A6}"/>
              </a:ext>
            </a:extLst>
          </p:cNvPr>
          <p:cNvSpPr txBox="1"/>
          <p:nvPr/>
        </p:nvSpPr>
        <p:spPr>
          <a:xfrm>
            <a:off x="9173127" y="3719818"/>
            <a:ext cx="27616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C62,</a:t>
            </a:r>
            <a:r>
              <a:rPr lang="zh-CN" altLang="en-US" sz="1400" b="1" dirty="0">
                <a:solidFill>
                  <a:srgbClr val="FF0000"/>
                </a:solidFill>
              </a:rPr>
              <a:t> </a:t>
            </a:r>
            <a:r>
              <a:rPr lang="en-US" altLang="zh-CN" sz="1400" b="1" dirty="0">
                <a:solidFill>
                  <a:srgbClr val="FF0000"/>
                </a:solidFill>
              </a:rPr>
              <a:t>C73, E11, I21, I50, I71, M08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41519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9154D0F-2557-D795-6F88-E0F74EA4A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5078" y="1551291"/>
            <a:ext cx="6299686" cy="39074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DE14621-C962-3D6D-8319-F6A8C19CDA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256" y="1551291"/>
            <a:ext cx="4493523" cy="3731909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0B5C87BF-E2AE-A4EC-FCDF-67BD27CC352E}"/>
              </a:ext>
            </a:extLst>
          </p:cNvPr>
          <p:cNvSpPr txBox="1"/>
          <p:nvPr/>
        </p:nvSpPr>
        <p:spPr>
          <a:xfrm>
            <a:off x="364227" y="314135"/>
            <a:ext cx="11219621" cy="881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Trend is not significant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Most traits’ best performing target PGS appears within top10 performing PGS (33.6%)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4765307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BA5257A-06DE-76D9-CD05-F7FE70666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46" y="1891538"/>
            <a:ext cx="3858158" cy="320423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0774147-7CB5-D588-3CD0-B08C3C1993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2204" y="1891538"/>
            <a:ext cx="3858158" cy="320423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1ABA088-729A-7DBE-6B1F-A2761352C4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0361" y="1891538"/>
            <a:ext cx="3950383" cy="3280826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810D3723-FA8F-2C94-DCD4-EECBB5098DA3}"/>
              </a:ext>
            </a:extLst>
          </p:cNvPr>
          <p:cNvSpPr txBox="1"/>
          <p:nvPr/>
        </p:nvSpPr>
        <p:spPr>
          <a:xfrm>
            <a:off x="246304" y="120073"/>
            <a:ext cx="10754205" cy="46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Best / Median / Worst in PGS rank correlation with PGS meta information is not significant </a:t>
            </a:r>
          </a:p>
        </p:txBody>
      </p:sp>
    </p:spTree>
    <p:extLst>
      <p:ext uri="{BB962C8B-B14F-4D97-AF65-F5344CB8AC3E}">
        <p14:creationId xmlns:p14="http://schemas.microsoft.com/office/powerpoint/2010/main" val="14926900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35638-27F7-21C9-57BD-58D80DE2D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7906FC8-8230-F5E0-3CC8-E94826DB0E91}"/>
              </a:ext>
            </a:extLst>
          </p:cNvPr>
          <p:cNvSpPr txBox="1"/>
          <p:nvPr/>
        </p:nvSpPr>
        <p:spPr>
          <a:xfrm>
            <a:off x="862219" y="2442640"/>
            <a:ext cx="8505716" cy="9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2.2 Continuous Traits </a:t>
            </a:r>
          </a:p>
        </p:txBody>
      </p:sp>
    </p:spTree>
    <p:extLst>
      <p:ext uri="{BB962C8B-B14F-4D97-AF65-F5344CB8AC3E}">
        <p14:creationId xmlns:p14="http://schemas.microsoft.com/office/powerpoint/2010/main" val="17181637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BE354239-637E-7724-B3B5-23C4D42046B4}"/>
              </a:ext>
            </a:extLst>
          </p:cNvPr>
          <p:cNvSpPr txBox="1"/>
          <p:nvPr/>
        </p:nvSpPr>
        <p:spPr>
          <a:xfrm>
            <a:off x="364227" y="314135"/>
            <a:ext cx="11219621" cy="881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Most traits’ best performing PGS is their target PGS (52.6%)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Most traits’ best performing target PGS appears with in top10 performing PGS (65.8%)</a:t>
            </a:r>
            <a:endParaRPr lang="zh-CN" altLang="en-US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D20F483-6A5B-AE78-5C11-AD202C2EE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7023" y="1529484"/>
            <a:ext cx="7004951" cy="434484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17D740A-8AF4-B969-9B67-FA5CB37B4E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631022"/>
            <a:ext cx="4987023" cy="414176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09C192EE-567C-0982-3A92-E0301F76F885}"/>
              </a:ext>
            </a:extLst>
          </p:cNvPr>
          <p:cNvSpPr txBox="1"/>
          <p:nvPr/>
        </p:nvSpPr>
        <p:spPr>
          <a:xfrm>
            <a:off x="9507392" y="4558607"/>
            <a:ext cx="24845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3084-1 4544-3 788-0 789-8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cxnSp>
        <p:nvCxnSpPr>
          <p:cNvPr id="15" name="直接箭头连接符 8">
            <a:extLst>
              <a:ext uri="{FF2B5EF4-FFF2-40B4-BE49-F238E27FC236}">
                <a16:creationId xmlns:a16="http://schemas.microsoft.com/office/drawing/2014/main" id="{EA11B4E3-A123-31C9-C24E-95A0926FF11C}"/>
              </a:ext>
            </a:extLst>
          </p:cNvPr>
          <p:cNvCxnSpPr>
            <a:cxnSpLocks/>
          </p:cNvCxnSpPr>
          <p:nvPr/>
        </p:nvCxnSpPr>
        <p:spPr>
          <a:xfrm flipH="1">
            <a:off x="11316137" y="4866384"/>
            <a:ext cx="267711" cy="34542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59936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13D371FD-1676-DB86-C18F-8E46C96457DA}"/>
              </a:ext>
            </a:extLst>
          </p:cNvPr>
          <p:cNvSpPr txBox="1"/>
          <p:nvPr/>
        </p:nvSpPr>
        <p:spPr>
          <a:xfrm>
            <a:off x="364228" y="314135"/>
            <a:ext cx="6120580" cy="465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Target PGS Distribution Per Trait</a:t>
            </a:r>
            <a:endParaRPr lang="zh-CN" altLang="en-US" b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C8747DC-F713-1FED-950A-D73E82568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6413" y="1095375"/>
            <a:ext cx="7524750" cy="466725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831AA93-9529-CCE4-5DB3-9F2D537B6395}"/>
              </a:ext>
            </a:extLst>
          </p:cNvPr>
          <p:cNvSpPr txBox="1"/>
          <p:nvPr/>
        </p:nvSpPr>
        <p:spPr>
          <a:xfrm>
            <a:off x="7518398" y="4106384"/>
            <a:ext cx="20227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29463-7 Body weight</a:t>
            </a:r>
          </a:p>
        </p:txBody>
      </p:sp>
      <p:cxnSp>
        <p:nvCxnSpPr>
          <p:cNvPr id="4" name="直接箭头连接符 8">
            <a:extLst>
              <a:ext uri="{FF2B5EF4-FFF2-40B4-BE49-F238E27FC236}">
                <a16:creationId xmlns:a16="http://schemas.microsoft.com/office/drawing/2014/main" id="{711CB148-323F-0509-052E-E47E27563345}"/>
              </a:ext>
            </a:extLst>
          </p:cNvPr>
          <p:cNvCxnSpPr>
            <a:cxnSpLocks/>
          </p:cNvCxnSpPr>
          <p:nvPr/>
        </p:nvCxnSpPr>
        <p:spPr>
          <a:xfrm flipH="1">
            <a:off x="9071701" y="4414161"/>
            <a:ext cx="267711" cy="34542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84389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3979165-4DBE-2C25-C741-FC5CCE7564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076" y="1303504"/>
            <a:ext cx="10243847" cy="508315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B85E91C-E78D-D6D9-F08D-F179255DBF00}"/>
              </a:ext>
            </a:extLst>
          </p:cNvPr>
          <p:cNvSpPr txBox="1"/>
          <p:nvPr/>
        </p:nvSpPr>
        <p:spPr>
          <a:xfrm>
            <a:off x="364228" y="314135"/>
            <a:ext cx="6120580" cy="465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Trait case count distribution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093822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>
            <a:extLst>
              <a:ext uri="{FF2B5EF4-FFF2-40B4-BE49-F238E27FC236}">
                <a16:creationId xmlns:a16="http://schemas.microsoft.com/office/drawing/2014/main" id="{DEF16EC6-4748-E8F6-6788-3FD7185328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0521" y="1911734"/>
            <a:ext cx="3603070" cy="29592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47C13EE-96E7-0C87-CA81-A6E8B9D20A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9108" y="1911734"/>
            <a:ext cx="3603070" cy="29592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FD47B721-2C55-1F15-D9D3-1ABD916E1B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695" y="1942209"/>
            <a:ext cx="3603070" cy="295920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8E5C358E-2AE3-8319-18EE-E9D0F27515CE}"/>
              </a:ext>
            </a:extLst>
          </p:cNvPr>
          <p:cNvSpPr txBox="1"/>
          <p:nvPr/>
        </p:nvSpPr>
        <p:spPr>
          <a:xfrm>
            <a:off x="364228" y="314135"/>
            <a:ext cx="7144936" cy="465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Restrict available PGS to Target PGS (Incremental R)</a:t>
            </a:r>
            <a:endParaRPr lang="zh-CN" altLang="en-US" b="1" dirty="0"/>
          </a:p>
        </p:txBody>
      </p:sp>
      <p:cxnSp>
        <p:nvCxnSpPr>
          <p:cNvPr id="6" name="直接箭头连接符 8">
            <a:extLst>
              <a:ext uri="{FF2B5EF4-FFF2-40B4-BE49-F238E27FC236}">
                <a16:creationId xmlns:a16="http://schemas.microsoft.com/office/drawing/2014/main" id="{EC4D6133-222B-9C64-6EF5-CDB400244E7C}"/>
              </a:ext>
            </a:extLst>
          </p:cNvPr>
          <p:cNvCxnSpPr>
            <a:cxnSpLocks/>
          </p:cNvCxnSpPr>
          <p:nvPr/>
        </p:nvCxnSpPr>
        <p:spPr>
          <a:xfrm>
            <a:off x="3637424" y="2903852"/>
            <a:ext cx="94395" cy="118383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7">
            <a:extLst>
              <a:ext uri="{FF2B5EF4-FFF2-40B4-BE49-F238E27FC236}">
                <a16:creationId xmlns:a16="http://schemas.microsoft.com/office/drawing/2014/main" id="{7D9EBBF3-D242-47F8-8033-234F91661889}"/>
              </a:ext>
            </a:extLst>
          </p:cNvPr>
          <p:cNvSpPr txBox="1"/>
          <p:nvPr/>
        </p:nvSpPr>
        <p:spPr>
          <a:xfrm>
            <a:off x="1570314" y="2380632"/>
            <a:ext cx="24132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10835-7</a:t>
            </a:r>
          </a:p>
          <a:p>
            <a:r>
              <a:rPr lang="en-US" altLang="zh-CN" sz="1400" b="1" dirty="0">
                <a:solidFill>
                  <a:srgbClr val="FF0000"/>
                </a:solidFill>
              </a:rPr>
              <a:t>lipoprotein a measurement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2D1C274-4A28-FC9C-73B6-634855A5091B}"/>
              </a:ext>
            </a:extLst>
          </p:cNvPr>
          <p:cNvSpPr txBox="1"/>
          <p:nvPr/>
        </p:nvSpPr>
        <p:spPr>
          <a:xfrm>
            <a:off x="1354672" y="2994563"/>
            <a:ext cx="12491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29463-7</a:t>
            </a:r>
          </a:p>
          <a:p>
            <a:r>
              <a:rPr lang="en-US" altLang="zh-CN" sz="1400" b="1" dirty="0">
                <a:solidFill>
                  <a:srgbClr val="FF0000"/>
                </a:solidFill>
              </a:rPr>
              <a:t>Body weight</a:t>
            </a:r>
          </a:p>
        </p:txBody>
      </p:sp>
      <p:cxnSp>
        <p:nvCxnSpPr>
          <p:cNvPr id="19" name="直接箭头连接符 8">
            <a:extLst>
              <a:ext uri="{FF2B5EF4-FFF2-40B4-BE49-F238E27FC236}">
                <a16:creationId xmlns:a16="http://schemas.microsoft.com/office/drawing/2014/main" id="{CBE712FD-43F0-7B80-A93E-C44E905FF97D}"/>
              </a:ext>
            </a:extLst>
          </p:cNvPr>
          <p:cNvCxnSpPr>
            <a:cxnSpLocks/>
          </p:cNvCxnSpPr>
          <p:nvPr/>
        </p:nvCxnSpPr>
        <p:spPr>
          <a:xfrm>
            <a:off x="2502825" y="3569688"/>
            <a:ext cx="101044" cy="52736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F068BE1C-9BA8-181A-69E9-61F9795C0AD5}"/>
              </a:ext>
            </a:extLst>
          </p:cNvPr>
          <p:cNvSpPr txBox="1"/>
          <p:nvPr/>
        </p:nvSpPr>
        <p:spPr>
          <a:xfrm>
            <a:off x="4579835" y="2840674"/>
            <a:ext cx="9048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10835-7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FA6E089-6B7D-345F-EDC1-227E91384849}"/>
              </a:ext>
            </a:extLst>
          </p:cNvPr>
          <p:cNvSpPr txBox="1"/>
          <p:nvPr/>
        </p:nvSpPr>
        <p:spPr>
          <a:xfrm>
            <a:off x="5032266" y="3391334"/>
            <a:ext cx="9048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29463-7</a:t>
            </a:r>
          </a:p>
        </p:txBody>
      </p:sp>
      <p:cxnSp>
        <p:nvCxnSpPr>
          <p:cNvPr id="31" name="直接箭头连接符 8">
            <a:extLst>
              <a:ext uri="{FF2B5EF4-FFF2-40B4-BE49-F238E27FC236}">
                <a16:creationId xmlns:a16="http://schemas.microsoft.com/office/drawing/2014/main" id="{16C9BE1E-CA77-FF0D-28B8-9F5AE83D2FE2}"/>
              </a:ext>
            </a:extLst>
          </p:cNvPr>
          <p:cNvCxnSpPr>
            <a:cxnSpLocks/>
          </p:cNvCxnSpPr>
          <p:nvPr/>
        </p:nvCxnSpPr>
        <p:spPr>
          <a:xfrm flipH="1">
            <a:off x="4717231" y="3162214"/>
            <a:ext cx="219474" cy="90953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8">
            <a:extLst>
              <a:ext uri="{FF2B5EF4-FFF2-40B4-BE49-F238E27FC236}">
                <a16:creationId xmlns:a16="http://schemas.microsoft.com/office/drawing/2014/main" id="{BBC22ADC-19C2-DC2A-E7DE-475EF439E442}"/>
              </a:ext>
            </a:extLst>
          </p:cNvPr>
          <p:cNvCxnSpPr>
            <a:cxnSpLocks/>
          </p:cNvCxnSpPr>
          <p:nvPr/>
        </p:nvCxnSpPr>
        <p:spPr>
          <a:xfrm flipH="1">
            <a:off x="5397997" y="3803153"/>
            <a:ext cx="13662" cy="27768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82687071-013B-055F-3677-E73732195A50}"/>
              </a:ext>
            </a:extLst>
          </p:cNvPr>
          <p:cNvSpPr txBox="1"/>
          <p:nvPr/>
        </p:nvSpPr>
        <p:spPr>
          <a:xfrm>
            <a:off x="10599065" y="3256173"/>
            <a:ext cx="9048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10835-7</a:t>
            </a:r>
          </a:p>
        </p:txBody>
      </p:sp>
      <p:cxnSp>
        <p:nvCxnSpPr>
          <p:cNvPr id="39" name="直接箭头连接符 8">
            <a:extLst>
              <a:ext uri="{FF2B5EF4-FFF2-40B4-BE49-F238E27FC236}">
                <a16:creationId xmlns:a16="http://schemas.microsoft.com/office/drawing/2014/main" id="{75C2FB65-8A41-5F4A-A771-E73341C6E70A}"/>
              </a:ext>
            </a:extLst>
          </p:cNvPr>
          <p:cNvCxnSpPr>
            <a:cxnSpLocks/>
          </p:cNvCxnSpPr>
          <p:nvPr/>
        </p:nvCxnSpPr>
        <p:spPr>
          <a:xfrm>
            <a:off x="11316037" y="3673489"/>
            <a:ext cx="100108" cy="41419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96252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D9FB9851-44F3-33A6-5D82-A283968B25F5}"/>
              </a:ext>
            </a:extLst>
          </p:cNvPr>
          <p:cNvSpPr txBox="1"/>
          <p:nvPr/>
        </p:nvSpPr>
        <p:spPr>
          <a:xfrm>
            <a:off x="246304" y="120073"/>
            <a:ext cx="10754205" cy="46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Best / Median / Worst in PGS rank is correlated with PGS meta information.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609A778-FEC0-EEE4-EB0D-DAEA11086657}"/>
              </a:ext>
            </a:extLst>
          </p:cNvPr>
          <p:cNvSpPr txBox="1"/>
          <p:nvPr/>
        </p:nvSpPr>
        <p:spPr>
          <a:xfrm>
            <a:off x="368632" y="5185188"/>
            <a:ext cx="112322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/>
              <a:t>Trend is not statistically significant</a:t>
            </a:r>
            <a:r>
              <a:rPr lang="zh-CN" altLang="en-US" sz="1600" b="1" dirty="0"/>
              <a:t> </a:t>
            </a:r>
            <a:endParaRPr lang="zh-CN" altLang="en-US" sz="1600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755AB0A4-A6F7-F4A3-DC32-972D2E9E0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32" y="1949400"/>
            <a:ext cx="3563118" cy="295920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3529F274-4264-AD33-8886-A474E6C987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4441" y="1949400"/>
            <a:ext cx="3563118" cy="295920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34C2EEC0-BE0E-1A22-391B-2496B8BE18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0250" y="1949400"/>
            <a:ext cx="3605393" cy="295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2762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E043F0C-AA2D-C01E-D97B-A58EF6B95768}"/>
              </a:ext>
            </a:extLst>
          </p:cNvPr>
          <p:cNvSpPr txBox="1"/>
          <p:nvPr/>
        </p:nvSpPr>
        <p:spPr>
          <a:xfrm>
            <a:off x="246304" y="120073"/>
            <a:ext cx="10754205" cy="46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Target PGS performance distribution.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A2E1BA7-4B0B-9443-ABE9-750CAE9CA4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1100137"/>
            <a:ext cx="10191750" cy="465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5639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7BAC833A-CEAE-F96F-AA45-68D39AD1D6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587" y="1367764"/>
            <a:ext cx="2924740" cy="216340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6768B96-B77C-34B6-B86B-3E64D27F0E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187" y="3531168"/>
            <a:ext cx="2740013" cy="2154476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93D029D6-AB19-C0B7-F412-87EBF1D205FC}"/>
              </a:ext>
            </a:extLst>
          </p:cNvPr>
          <p:cNvSpPr txBox="1"/>
          <p:nvPr/>
        </p:nvSpPr>
        <p:spPr>
          <a:xfrm>
            <a:off x="364227" y="314135"/>
            <a:ext cx="11219621" cy="465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Deeper slope in continuous trait compared to binary </a:t>
            </a:r>
            <a:endParaRPr lang="zh-CN" altLang="en-US" b="1" dirty="0"/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85A60710-BFB5-4E9B-AAA8-86B71CB17DDE}"/>
              </a:ext>
            </a:extLst>
          </p:cNvPr>
          <p:cNvCxnSpPr>
            <a:cxnSpLocks/>
          </p:cNvCxnSpPr>
          <p:nvPr/>
        </p:nvCxnSpPr>
        <p:spPr>
          <a:xfrm>
            <a:off x="2408019" y="1807358"/>
            <a:ext cx="215108" cy="64210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>
            <a:extLst>
              <a:ext uri="{FF2B5EF4-FFF2-40B4-BE49-F238E27FC236}">
                <a16:creationId xmlns:a16="http://schemas.microsoft.com/office/drawing/2014/main" id="{BDC3272D-3268-1C58-CEFE-FED7ECF434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5471" y="1322177"/>
            <a:ext cx="2690942" cy="206123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214B7C6-E225-4904-C25D-B59ADF8E1A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5470" y="3485581"/>
            <a:ext cx="2690943" cy="2108890"/>
          </a:xfrm>
          <a:prstGeom prst="rect">
            <a:avLst/>
          </a:prstGeom>
        </p:spPr>
      </p:pic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167EA9A8-FACA-F825-55C3-E43F0550D3E4}"/>
              </a:ext>
            </a:extLst>
          </p:cNvPr>
          <p:cNvCxnSpPr>
            <a:cxnSpLocks/>
          </p:cNvCxnSpPr>
          <p:nvPr/>
        </p:nvCxnSpPr>
        <p:spPr>
          <a:xfrm>
            <a:off x="2300465" y="3897919"/>
            <a:ext cx="215108" cy="64210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B87C252D-DBC1-019C-D4E1-492B124C855D}"/>
              </a:ext>
            </a:extLst>
          </p:cNvPr>
          <p:cNvCxnSpPr>
            <a:cxnSpLocks/>
          </p:cNvCxnSpPr>
          <p:nvPr/>
        </p:nvCxnSpPr>
        <p:spPr>
          <a:xfrm>
            <a:off x="8841147" y="1589732"/>
            <a:ext cx="820090" cy="11899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56DF2C35-4EE4-3CAA-856F-41427D911B64}"/>
              </a:ext>
            </a:extLst>
          </p:cNvPr>
          <p:cNvCxnSpPr>
            <a:cxnSpLocks/>
          </p:cNvCxnSpPr>
          <p:nvPr/>
        </p:nvCxnSpPr>
        <p:spPr>
          <a:xfrm>
            <a:off x="8841147" y="3866318"/>
            <a:ext cx="820090" cy="11899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图片 18">
            <a:extLst>
              <a:ext uri="{FF2B5EF4-FFF2-40B4-BE49-F238E27FC236}">
                <a16:creationId xmlns:a16="http://schemas.microsoft.com/office/drawing/2014/main" id="{19EAAC93-6F6F-23DB-150F-A0A870CBEC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4604" y="2326896"/>
            <a:ext cx="3181794" cy="32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8069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1D82A4B-0D74-8D95-9585-B9A3E5B03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90823"/>
            <a:ext cx="12192000" cy="191868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E355B03-1263-E8FA-8D8D-DB4279126150}"/>
              </a:ext>
            </a:extLst>
          </p:cNvPr>
          <p:cNvSpPr txBox="1"/>
          <p:nvPr/>
        </p:nvSpPr>
        <p:spPr>
          <a:xfrm>
            <a:off x="264777" y="221673"/>
            <a:ext cx="3623732" cy="1296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Adjusted Beta seems not suitable for analysis (even if after dropping outliers)</a:t>
            </a:r>
            <a:endParaRPr lang="zh-CN" altLang="en-US" b="1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8CE25F3-A541-AFC0-8580-31D1611131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822" y="108353"/>
            <a:ext cx="5375746" cy="40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63189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534D0-F53B-3850-62C6-AB485FC0E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7B785F9-1847-49BC-A1AE-65AA6BA8B0EF}"/>
              </a:ext>
            </a:extLst>
          </p:cNvPr>
          <p:cNvSpPr txBox="1"/>
          <p:nvPr/>
        </p:nvSpPr>
        <p:spPr>
          <a:xfrm>
            <a:off x="862219" y="2442640"/>
            <a:ext cx="8505716" cy="9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 Cross Traits</a:t>
            </a:r>
          </a:p>
        </p:txBody>
      </p:sp>
    </p:spTree>
    <p:extLst>
      <p:ext uri="{BB962C8B-B14F-4D97-AF65-F5344CB8AC3E}">
        <p14:creationId xmlns:p14="http://schemas.microsoft.com/office/powerpoint/2010/main" val="39305534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DFC160F9-C068-C6C5-286C-5ED3427C90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671" y="1740567"/>
            <a:ext cx="4066021" cy="33768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0F169E0-2F0C-A9CA-B4B3-0852F44283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9856" y="1740567"/>
            <a:ext cx="4066021" cy="3376865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420312C4-41B1-36F9-ED21-AE79218912BC}"/>
              </a:ext>
            </a:extLst>
          </p:cNvPr>
          <p:cNvSpPr txBox="1"/>
          <p:nvPr/>
        </p:nvSpPr>
        <p:spPr>
          <a:xfrm>
            <a:off x="9303041" y="2861873"/>
            <a:ext cx="239750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PGS002161</a:t>
            </a:r>
          </a:p>
          <a:p>
            <a:r>
              <a:rPr lang="en-US" altLang="zh-CN" sz="1400" b="1" dirty="0">
                <a:solidFill>
                  <a:srgbClr val="FF0000"/>
                </a:solidFill>
              </a:rPr>
              <a:t>Body mass index (BMI)</a:t>
            </a:r>
          </a:p>
          <a:p>
            <a:r>
              <a:rPr lang="en-US" altLang="zh-CN" sz="1400" b="1" dirty="0">
                <a:solidFill>
                  <a:srgbClr val="FF0000"/>
                </a:solidFill>
              </a:rPr>
              <a:t>PGS004760</a:t>
            </a:r>
          </a:p>
          <a:p>
            <a:r>
              <a:rPr lang="en-US" altLang="zh-CN" sz="1400" b="1" dirty="0">
                <a:solidFill>
                  <a:srgbClr val="FF0000"/>
                </a:solidFill>
              </a:rPr>
              <a:t>Depression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cxnSp>
        <p:nvCxnSpPr>
          <p:cNvPr id="12" name="直接箭头连接符 8">
            <a:extLst>
              <a:ext uri="{FF2B5EF4-FFF2-40B4-BE49-F238E27FC236}">
                <a16:creationId xmlns:a16="http://schemas.microsoft.com/office/drawing/2014/main" id="{980C990E-C762-A6D4-891F-86827245CB8D}"/>
              </a:ext>
            </a:extLst>
          </p:cNvPr>
          <p:cNvCxnSpPr>
            <a:cxnSpLocks/>
          </p:cNvCxnSpPr>
          <p:nvPr/>
        </p:nvCxnSpPr>
        <p:spPr>
          <a:xfrm flipH="1">
            <a:off x="8632055" y="3424592"/>
            <a:ext cx="670986" cy="124900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6EA639E2-61AF-B7B2-BC95-03CF9E1D841E}"/>
              </a:ext>
            </a:extLst>
          </p:cNvPr>
          <p:cNvSpPr txBox="1"/>
          <p:nvPr/>
        </p:nvSpPr>
        <p:spPr>
          <a:xfrm>
            <a:off x="264776" y="221673"/>
            <a:ext cx="9341041" cy="8811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23% of PGS achieve their best rank at their target trait (enrichment 27.3x)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Most PGS shows significant specificity  </a:t>
            </a:r>
          </a:p>
        </p:txBody>
      </p:sp>
      <p:cxnSp>
        <p:nvCxnSpPr>
          <p:cNvPr id="2" name="直接箭头连接符 8">
            <a:extLst>
              <a:ext uri="{FF2B5EF4-FFF2-40B4-BE49-F238E27FC236}">
                <a16:creationId xmlns:a16="http://schemas.microsoft.com/office/drawing/2014/main" id="{15909FA5-7E8A-4779-3989-602CB6900D96}"/>
              </a:ext>
            </a:extLst>
          </p:cNvPr>
          <p:cNvCxnSpPr>
            <a:cxnSpLocks/>
          </p:cNvCxnSpPr>
          <p:nvPr/>
        </p:nvCxnSpPr>
        <p:spPr>
          <a:xfrm flipH="1" flipV="1">
            <a:off x="8435613" y="4795035"/>
            <a:ext cx="726860" cy="56344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EFE49835-6115-3D10-CD28-E1E0B6384DB3}"/>
              </a:ext>
            </a:extLst>
          </p:cNvPr>
          <p:cNvSpPr txBox="1"/>
          <p:nvPr/>
        </p:nvSpPr>
        <p:spPr>
          <a:xfrm>
            <a:off x="9303041" y="4434365"/>
            <a:ext cx="239750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PGS005203</a:t>
            </a:r>
          </a:p>
          <a:p>
            <a:r>
              <a:rPr lang="en-US" altLang="zh-CN" sz="1400" b="1" dirty="0">
                <a:solidFill>
                  <a:srgbClr val="FF0000"/>
                </a:solidFill>
              </a:rPr>
              <a:t>Body mass index (BMI)</a:t>
            </a:r>
          </a:p>
          <a:p>
            <a:r>
              <a:rPr lang="en-US" altLang="zh-CN" sz="1400" b="1" dirty="0">
                <a:solidFill>
                  <a:srgbClr val="FF0000"/>
                </a:solidFill>
              </a:rPr>
              <a:t>PGS003525</a:t>
            </a:r>
          </a:p>
          <a:p>
            <a:r>
              <a:rPr lang="en-US" altLang="zh-CN" sz="1400" b="1" dirty="0">
                <a:solidFill>
                  <a:srgbClr val="FF0000"/>
                </a:solidFill>
              </a:rPr>
              <a:t>Body mass index (BMI)</a:t>
            </a:r>
          </a:p>
          <a:p>
            <a:r>
              <a:rPr lang="en-US" altLang="zh-CN" sz="1400" b="1" dirty="0">
                <a:solidFill>
                  <a:srgbClr val="FF0000"/>
                </a:solidFill>
              </a:rPr>
              <a:t>PGS004819</a:t>
            </a:r>
          </a:p>
          <a:p>
            <a:r>
              <a:rPr lang="en-US" altLang="zh-CN" sz="1400" b="1" dirty="0">
                <a:solidFill>
                  <a:srgbClr val="FF0000"/>
                </a:solidFill>
              </a:rPr>
              <a:t>rheumatoid arthritis</a:t>
            </a:r>
          </a:p>
          <a:p>
            <a:r>
              <a:rPr lang="en-US" altLang="zh-CN" sz="1400" b="1" dirty="0">
                <a:solidFill>
                  <a:srgbClr val="FF0000"/>
                </a:solidFill>
              </a:rPr>
              <a:t>PGS005199</a:t>
            </a:r>
          </a:p>
          <a:p>
            <a:r>
              <a:rPr lang="en-US" altLang="zh-CN" sz="1400" b="1" dirty="0">
                <a:solidFill>
                  <a:srgbClr val="FF0000"/>
                </a:solidFill>
              </a:rPr>
              <a:t>Body mass index (BMI)</a:t>
            </a:r>
          </a:p>
        </p:txBody>
      </p:sp>
    </p:spTree>
    <p:extLst>
      <p:ext uri="{BB962C8B-B14F-4D97-AF65-F5344CB8AC3E}">
        <p14:creationId xmlns:p14="http://schemas.microsoft.com/office/powerpoint/2010/main" val="178948602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>
            <a:extLst>
              <a:ext uri="{FF2B5EF4-FFF2-40B4-BE49-F238E27FC236}">
                <a16:creationId xmlns:a16="http://schemas.microsoft.com/office/drawing/2014/main" id="{B371E759-A01B-DA29-5407-D0340A15B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915" y="1112529"/>
            <a:ext cx="3698136" cy="2761899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BCD3B728-43D4-1CD5-798F-418E500807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778" y="1112530"/>
            <a:ext cx="3698138" cy="2761900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049C1CC7-3D80-A48E-59B3-2D5DC08045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777" y="3874428"/>
            <a:ext cx="3698136" cy="2761899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E3EB7F79-C11D-08AB-C6AD-846383187F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2913" y="3874428"/>
            <a:ext cx="3698136" cy="2761899"/>
          </a:xfrm>
          <a:prstGeom prst="rect">
            <a:avLst/>
          </a:prstGeom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600BA07F-81F5-29D5-24A4-6FD3DE69E59B}"/>
              </a:ext>
            </a:extLst>
          </p:cNvPr>
          <p:cNvSpPr txBox="1"/>
          <p:nvPr/>
        </p:nvSpPr>
        <p:spPr>
          <a:xfrm>
            <a:off x="264777" y="221673"/>
            <a:ext cx="11132896" cy="8811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The more recent release performs better than the overall (stratified to each year 2023 - 2026)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It becomes harder to achieve better performance (less PGS is released in PGS catalog)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93516276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D77224B6-5A72-2E36-3E31-C26B1EB6E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364" y="1376844"/>
            <a:ext cx="4070304" cy="3342940"/>
          </a:xfrm>
          <a:prstGeom prst="rect">
            <a:avLst/>
          </a:prstGeom>
        </p:spPr>
      </p:pic>
      <p:cxnSp>
        <p:nvCxnSpPr>
          <p:cNvPr id="8" name="直接箭头连接符 8">
            <a:extLst>
              <a:ext uri="{FF2B5EF4-FFF2-40B4-BE49-F238E27FC236}">
                <a16:creationId xmlns:a16="http://schemas.microsoft.com/office/drawing/2014/main" id="{773CBA3A-0773-3322-6312-D898A2E68769}"/>
              </a:ext>
            </a:extLst>
          </p:cNvPr>
          <p:cNvCxnSpPr>
            <a:cxnSpLocks/>
          </p:cNvCxnSpPr>
          <p:nvPr/>
        </p:nvCxnSpPr>
        <p:spPr>
          <a:xfrm flipH="1">
            <a:off x="8034214" y="2613891"/>
            <a:ext cx="441769" cy="69272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12DF39B0-659E-792E-96AA-83FEFAE2CE6A}"/>
              </a:ext>
            </a:extLst>
          </p:cNvPr>
          <p:cNvSpPr txBox="1"/>
          <p:nvPr/>
        </p:nvSpPr>
        <p:spPr>
          <a:xfrm>
            <a:off x="8548298" y="1739551"/>
            <a:ext cx="3556220" cy="2280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it-IT" altLang="zh-CN" sz="1200" b="1" dirty="0">
                <a:solidFill>
                  <a:srgbClr val="FF0000"/>
                </a:solidFill>
              </a:rPr>
              <a:t>29463-7 E66 0.838320</a:t>
            </a:r>
          </a:p>
          <a:p>
            <a:pPr>
              <a:lnSpc>
                <a:spcPct val="150000"/>
              </a:lnSpc>
            </a:pPr>
            <a:r>
              <a:rPr lang="en-US" altLang="zh-CN" sz="1200" b="1" dirty="0">
                <a:solidFill>
                  <a:srgbClr val="FF0000"/>
                </a:solidFill>
              </a:rPr>
              <a:t>BMI (Body Mass Index):</a:t>
            </a:r>
            <a:r>
              <a:rPr lang="zh-CN" altLang="en-US" sz="1200" b="1" dirty="0">
                <a:solidFill>
                  <a:srgbClr val="FF0000"/>
                </a:solidFill>
              </a:rPr>
              <a:t> </a:t>
            </a:r>
            <a:r>
              <a:rPr lang="en-US" altLang="zh-CN" sz="1200" b="1" dirty="0">
                <a:solidFill>
                  <a:srgbClr val="FF0000"/>
                </a:solidFill>
              </a:rPr>
              <a:t>Obesity</a:t>
            </a:r>
            <a:endParaRPr lang="it-IT" altLang="zh-CN" sz="12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it-IT" altLang="zh-CN" sz="1200" b="1" dirty="0">
                <a:solidFill>
                  <a:srgbClr val="FF0000"/>
                </a:solidFill>
              </a:rPr>
              <a:t>8462-4 I10 0.887572 </a:t>
            </a:r>
          </a:p>
          <a:p>
            <a:pPr>
              <a:lnSpc>
                <a:spcPct val="150000"/>
              </a:lnSpc>
            </a:pPr>
            <a:r>
              <a:rPr lang="en-US" altLang="zh-CN" sz="1200" b="1" dirty="0">
                <a:solidFill>
                  <a:srgbClr val="FF0000"/>
                </a:solidFill>
              </a:rPr>
              <a:t>Diastolic BP: Essential (primary) hypertension</a:t>
            </a:r>
            <a:endParaRPr lang="it-IT" altLang="zh-CN" sz="12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it-IT" altLang="zh-CN" sz="1200" b="1" dirty="0">
                <a:solidFill>
                  <a:srgbClr val="FF0000"/>
                </a:solidFill>
              </a:rPr>
              <a:t>8480-6 I10 0.839638 </a:t>
            </a:r>
          </a:p>
          <a:p>
            <a:pPr>
              <a:lnSpc>
                <a:spcPct val="150000"/>
              </a:lnSpc>
            </a:pPr>
            <a:r>
              <a:rPr lang="en-US" altLang="zh-CN" sz="1200" b="1" dirty="0">
                <a:solidFill>
                  <a:srgbClr val="FF0000"/>
                </a:solidFill>
              </a:rPr>
              <a:t>Systolic BP: Essential (primary) hypertension</a:t>
            </a:r>
            <a:endParaRPr lang="it-IT" altLang="zh-CN" sz="12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it-IT" altLang="zh-CN" sz="1200" b="1" dirty="0">
                <a:solidFill>
                  <a:srgbClr val="FF0000"/>
                </a:solidFill>
              </a:rPr>
              <a:t>8867-4 E83 0.808310</a:t>
            </a:r>
          </a:p>
          <a:p>
            <a:pPr>
              <a:lnSpc>
                <a:spcPct val="150000"/>
              </a:lnSpc>
            </a:pPr>
            <a:r>
              <a:rPr lang="en-US" altLang="zh-CN" sz="1200" b="1" dirty="0">
                <a:solidFill>
                  <a:srgbClr val="FF0000"/>
                </a:solidFill>
              </a:rPr>
              <a:t>Heart rate: Disorders of mineral metabolism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BDF8153-857C-0A1E-22A2-D362B5B105C9}"/>
              </a:ext>
            </a:extLst>
          </p:cNvPr>
          <p:cNvSpPr txBox="1"/>
          <p:nvPr/>
        </p:nvSpPr>
        <p:spPr>
          <a:xfrm>
            <a:off x="246304" y="120073"/>
            <a:ext cx="10754205" cy="46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Quantify correlation by Spearman Correlation in Top500 PGS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F9CF84A1-D392-44AF-8CCA-39C0D90DCA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34" y="1376844"/>
            <a:ext cx="4261330" cy="3342940"/>
          </a:xfrm>
          <a:prstGeom prst="rect">
            <a:avLst/>
          </a:prstGeom>
        </p:spPr>
      </p:pic>
      <p:cxnSp>
        <p:nvCxnSpPr>
          <p:cNvPr id="25" name="直接箭头连接符 8">
            <a:extLst>
              <a:ext uri="{FF2B5EF4-FFF2-40B4-BE49-F238E27FC236}">
                <a16:creationId xmlns:a16="http://schemas.microsoft.com/office/drawing/2014/main" id="{32A6BDBD-4B8E-CF49-BDC9-3C6A80479BB3}"/>
              </a:ext>
            </a:extLst>
          </p:cNvPr>
          <p:cNvCxnSpPr>
            <a:cxnSpLocks/>
          </p:cNvCxnSpPr>
          <p:nvPr/>
        </p:nvCxnSpPr>
        <p:spPr>
          <a:xfrm flipH="1">
            <a:off x="3309814" y="3228110"/>
            <a:ext cx="441769" cy="69272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392F0A96-7E6B-8166-D409-CEF4E2677BC7}"/>
              </a:ext>
            </a:extLst>
          </p:cNvPr>
          <p:cNvSpPr txBox="1"/>
          <p:nvPr/>
        </p:nvSpPr>
        <p:spPr>
          <a:xfrm>
            <a:off x="3262733" y="2960254"/>
            <a:ext cx="10344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95% quantile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471129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A075E3B-5728-E99D-8987-2AE949FB76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304" y="2032433"/>
            <a:ext cx="3933189" cy="279313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C9E837F1-8063-53B5-257F-C9F4E16A8D4D}"/>
              </a:ext>
            </a:extLst>
          </p:cNvPr>
          <p:cNvSpPr txBox="1"/>
          <p:nvPr/>
        </p:nvSpPr>
        <p:spPr>
          <a:xfrm>
            <a:off x="246304" y="120073"/>
            <a:ext cx="10754205" cy="46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Construct Network base on Spearman correlation</a:t>
            </a:r>
          </a:p>
        </p:txBody>
      </p:sp>
      <p:cxnSp>
        <p:nvCxnSpPr>
          <p:cNvPr id="12" name="直接箭头连接符 8">
            <a:extLst>
              <a:ext uri="{FF2B5EF4-FFF2-40B4-BE49-F238E27FC236}">
                <a16:creationId xmlns:a16="http://schemas.microsoft.com/office/drawing/2014/main" id="{275A2A9F-30C4-0E93-561C-01D981AF86FD}"/>
              </a:ext>
            </a:extLst>
          </p:cNvPr>
          <p:cNvCxnSpPr>
            <a:cxnSpLocks/>
          </p:cNvCxnSpPr>
          <p:nvPr/>
        </p:nvCxnSpPr>
        <p:spPr>
          <a:xfrm flipV="1">
            <a:off x="3362036" y="4601585"/>
            <a:ext cx="542179" cy="36933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65524604-8723-D006-6217-405738D06182}"/>
              </a:ext>
            </a:extLst>
          </p:cNvPr>
          <p:cNvSpPr txBox="1"/>
          <p:nvPr/>
        </p:nvSpPr>
        <p:spPr>
          <a:xfrm>
            <a:off x="1228437" y="4970917"/>
            <a:ext cx="46274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N17, Acute kidney failure</a:t>
            </a:r>
          </a:p>
          <a:p>
            <a:r>
              <a:rPr lang="en-US" altLang="zh-CN" sz="1200" b="1" dirty="0">
                <a:solidFill>
                  <a:srgbClr val="FF0000"/>
                </a:solidFill>
              </a:rPr>
              <a:t>G47, Sleep Disorders under Diseases of the Nervous System</a:t>
            </a:r>
          </a:p>
          <a:p>
            <a:r>
              <a:rPr lang="pl-PL" altLang="zh-CN" sz="1200" b="1" dirty="0">
                <a:solidFill>
                  <a:srgbClr val="FF0000"/>
                </a:solidFill>
              </a:rPr>
              <a:t>D64</a:t>
            </a:r>
            <a:r>
              <a:rPr lang="en-US" altLang="zh-CN" sz="1200" b="1" dirty="0">
                <a:solidFill>
                  <a:srgbClr val="FF0000"/>
                </a:solidFill>
              </a:rPr>
              <a:t>, Anemias</a:t>
            </a:r>
          </a:p>
          <a:p>
            <a:r>
              <a:rPr lang="pl-PL" altLang="zh-CN" sz="1200" b="1" dirty="0">
                <a:solidFill>
                  <a:srgbClr val="FF0000"/>
                </a:solidFill>
              </a:rPr>
              <a:t>U0</a:t>
            </a:r>
            <a:r>
              <a:rPr lang="en-US" altLang="zh-CN" sz="1200" b="1" dirty="0">
                <a:solidFill>
                  <a:srgbClr val="FF0000"/>
                </a:solidFill>
              </a:rPr>
              <a:t>7, COVID-19</a:t>
            </a:r>
          </a:p>
          <a:p>
            <a:r>
              <a:rPr lang="pl-PL" altLang="zh-CN" sz="1200" b="1" dirty="0">
                <a:solidFill>
                  <a:srgbClr val="FF0000"/>
                </a:solidFill>
              </a:rPr>
              <a:t>L03</a:t>
            </a:r>
            <a:r>
              <a:rPr lang="en-US" altLang="zh-CN" sz="1200" b="1" dirty="0">
                <a:solidFill>
                  <a:srgbClr val="FF0000"/>
                </a:solidFill>
              </a:rPr>
              <a:t>, Cellulitis and Acute Lymphangitis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7E781680-AE48-64CB-A33F-C62ABCDB3F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4147" y="2032433"/>
            <a:ext cx="3933189" cy="2793134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A25789F8-3455-C2DD-94E1-9189D407E36A}"/>
              </a:ext>
            </a:extLst>
          </p:cNvPr>
          <p:cNvSpPr txBox="1"/>
          <p:nvPr/>
        </p:nvSpPr>
        <p:spPr>
          <a:xfrm>
            <a:off x="5623406" y="4977767"/>
            <a:ext cx="43333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R55, Syncope and collapse (fainting)</a:t>
            </a:r>
          </a:p>
          <a:p>
            <a:r>
              <a:rPr lang="en-US" altLang="zh-CN" sz="1200" b="1" dirty="0">
                <a:solidFill>
                  <a:srgbClr val="FF0000"/>
                </a:solidFill>
              </a:rPr>
              <a:t>I50, Heart Failure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cxnSp>
        <p:nvCxnSpPr>
          <p:cNvPr id="21" name="直接箭头连接符 8">
            <a:extLst>
              <a:ext uri="{FF2B5EF4-FFF2-40B4-BE49-F238E27FC236}">
                <a16:creationId xmlns:a16="http://schemas.microsoft.com/office/drawing/2014/main" id="{518175AB-82AB-DF47-0437-35CC56395CF6}"/>
              </a:ext>
            </a:extLst>
          </p:cNvPr>
          <p:cNvCxnSpPr>
            <a:cxnSpLocks/>
          </p:cNvCxnSpPr>
          <p:nvPr/>
        </p:nvCxnSpPr>
        <p:spPr>
          <a:xfrm flipV="1">
            <a:off x="7098146" y="4601585"/>
            <a:ext cx="542179" cy="36933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>
            <a:extLst>
              <a:ext uri="{FF2B5EF4-FFF2-40B4-BE49-F238E27FC236}">
                <a16:creationId xmlns:a16="http://schemas.microsoft.com/office/drawing/2014/main" id="{ACED313D-F671-C2B1-A867-BE8471A7E6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7336" y="2032433"/>
            <a:ext cx="3933189" cy="2793134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17F9C6F6-39D7-647C-9A24-656356E6771B}"/>
              </a:ext>
            </a:extLst>
          </p:cNvPr>
          <p:cNvSpPr txBox="1"/>
          <p:nvPr/>
        </p:nvSpPr>
        <p:spPr>
          <a:xfrm>
            <a:off x="8636075" y="4970917"/>
            <a:ext cx="34744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N17, Acute kidney failure</a:t>
            </a:r>
          </a:p>
          <a:p>
            <a:r>
              <a:rPr lang="en-US" altLang="zh-CN" sz="1200" b="1" dirty="0">
                <a:solidFill>
                  <a:srgbClr val="FF0000"/>
                </a:solidFill>
              </a:rPr>
              <a:t>G47, Sleep Disorders under Diseases of the Nervous System</a:t>
            </a:r>
          </a:p>
        </p:txBody>
      </p:sp>
      <p:cxnSp>
        <p:nvCxnSpPr>
          <p:cNvPr id="28" name="直接箭头连接符 8">
            <a:extLst>
              <a:ext uri="{FF2B5EF4-FFF2-40B4-BE49-F238E27FC236}">
                <a16:creationId xmlns:a16="http://schemas.microsoft.com/office/drawing/2014/main" id="{9EA3AFE0-C084-3C00-0D51-B978A563BD0B}"/>
              </a:ext>
            </a:extLst>
          </p:cNvPr>
          <p:cNvCxnSpPr>
            <a:cxnSpLocks/>
          </p:cNvCxnSpPr>
          <p:nvPr/>
        </p:nvCxnSpPr>
        <p:spPr>
          <a:xfrm flipV="1">
            <a:off x="11148640" y="4608435"/>
            <a:ext cx="542179" cy="36933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35671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:a16="http://schemas.microsoft.com/office/drawing/2014/main" id="{AA8001A2-BBC1-056E-44ED-EA3DA656F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2598"/>
            <a:ext cx="6160655" cy="6271749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695C4AD6-D036-DBEB-A6A5-8E062577CA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097" y="279548"/>
            <a:ext cx="3303695" cy="342645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27F4131C-3630-1D68-46E0-346225ADBB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6813" y="3431550"/>
            <a:ext cx="3303696" cy="3426450"/>
          </a:xfrm>
          <a:prstGeom prst="rect">
            <a:avLst/>
          </a:prstGeom>
        </p:spPr>
      </p:pic>
      <p:cxnSp>
        <p:nvCxnSpPr>
          <p:cNvPr id="18" name="直接箭头连接符 8">
            <a:extLst>
              <a:ext uri="{FF2B5EF4-FFF2-40B4-BE49-F238E27FC236}">
                <a16:creationId xmlns:a16="http://schemas.microsoft.com/office/drawing/2014/main" id="{01295FCB-D511-22BB-64B1-97BE66901B95}"/>
              </a:ext>
            </a:extLst>
          </p:cNvPr>
          <p:cNvCxnSpPr>
            <a:cxnSpLocks/>
          </p:cNvCxnSpPr>
          <p:nvPr/>
        </p:nvCxnSpPr>
        <p:spPr>
          <a:xfrm flipH="1" flipV="1">
            <a:off x="5080000" y="5717309"/>
            <a:ext cx="1080655" cy="31403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5AD14059-1E4F-D445-FBF1-EF2BE9C8A211}"/>
              </a:ext>
            </a:extLst>
          </p:cNvPr>
          <p:cNvSpPr txBox="1"/>
          <p:nvPr/>
        </p:nvSpPr>
        <p:spPr>
          <a:xfrm>
            <a:off x="5252372" y="6031346"/>
            <a:ext cx="2444440" cy="618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b="1" dirty="0">
                <a:solidFill>
                  <a:srgbClr val="FF0000"/>
                </a:solidFill>
              </a:rPr>
              <a:t>Diastolic BP: Essential (primary) hypertension</a:t>
            </a:r>
            <a:r>
              <a:rPr lang="it-IT" altLang="zh-CN" sz="1200" b="1" dirty="0">
                <a:solidFill>
                  <a:srgbClr val="FF0000"/>
                </a:solidFill>
              </a:rPr>
              <a:t>: </a:t>
            </a:r>
            <a:r>
              <a:rPr lang="en-US" altLang="zh-CN" sz="1200" b="1" dirty="0">
                <a:solidFill>
                  <a:srgbClr val="FF0000"/>
                </a:solidFill>
              </a:rPr>
              <a:t>Systolic BP</a:t>
            </a:r>
            <a:endParaRPr lang="zh-CN" altLang="en-US" sz="1200" dirty="0"/>
          </a:p>
        </p:txBody>
      </p:sp>
      <p:cxnSp>
        <p:nvCxnSpPr>
          <p:cNvPr id="23" name="直接箭头连接符 8">
            <a:extLst>
              <a:ext uri="{FF2B5EF4-FFF2-40B4-BE49-F238E27FC236}">
                <a16:creationId xmlns:a16="http://schemas.microsoft.com/office/drawing/2014/main" id="{35917C15-368E-17AE-48F5-51F01166BABF}"/>
              </a:ext>
            </a:extLst>
          </p:cNvPr>
          <p:cNvCxnSpPr>
            <a:cxnSpLocks/>
          </p:cNvCxnSpPr>
          <p:nvPr/>
        </p:nvCxnSpPr>
        <p:spPr>
          <a:xfrm flipV="1">
            <a:off x="771225" y="3793966"/>
            <a:ext cx="189345" cy="34434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9ED40CF0-99F0-0B04-76D7-CE8A0C246960}"/>
              </a:ext>
            </a:extLst>
          </p:cNvPr>
          <p:cNvSpPr txBox="1"/>
          <p:nvPr/>
        </p:nvSpPr>
        <p:spPr>
          <a:xfrm>
            <a:off x="98469" y="4268341"/>
            <a:ext cx="1993556" cy="618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b="1" dirty="0">
                <a:solidFill>
                  <a:srgbClr val="FF0000"/>
                </a:solidFill>
              </a:rPr>
              <a:t>Asthma: Allergic rhinitis</a:t>
            </a:r>
            <a:r>
              <a:rPr lang="it-IT" altLang="zh-CN" sz="1200" b="1" dirty="0">
                <a:solidFill>
                  <a:srgbClr val="FF0000"/>
                </a:solidFill>
              </a:rPr>
              <a:t>: </a:t>
            </a:r>
            <a:r>
              <a:rPr lang="en-US" altLang="zh-CN" sz="1200" b="1" dirty="0">
                <a:solidFill>
                  <a:srgbClr val="FF0000"/>
                </a:solidFill>
              </a:rPr>
              <a:t>Personal history of allergy</a:t>
            </a:r>
            <a:endParaRPr lang="zh-CN" altLang="en-US" sz="1200" dirty="0"/>
          </a:p>
        </p:txBody>
      </p:sp>
      <p:cxnSp>
        <p:nvCxnSpPr>
          <p:cNvPr id="27" name="直接箭头连接符 8">
            <a:extLst>
              <a:ext uri="{FF2B5EF4-FFF2-40B4-BE49-F238E27FC236}">
                <a16:creationId xmlns:a16="http://schemas.microsoft.com/office/drawing/2014/main" id="{A280967E-2D01-F92A-A008-C61459E3A3B3}"/>
              </a:ext>
            </a:extLst>
          </p:cNvPr>
          <p:cNvCxnSpPr>
            <a:cxnSpLocks/>
          </p:cNvCxnSpPr>
          <p:nvPr/>
        </p:nvCxnSpPr>
        <p:spPr>
          <a:xfrm>
            <a:off x="2369897" y="1242151"/>
            <a:ext cx="518735" cy="23682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123A0E4D-5305-2902-7CD8-C29127CD14C8}"/>
              </a:ext>
            </a:extLst>
          </p:cNvPr>
          <p:cNvSpPr txBox="1"/>
          <p:nvPr/>
        </p:nvSpPr>
        <p:spPr>
          <a:xfrm>
            <a:off x="347775" y="794561"/>
            <a:ext cx="1993556" cy="895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b="1" dirty="0">
                <a:solidFill>
                  <a:srgbClr val="FF0000"/>
                </a:solidFill>
              </a:rPr>
              <a:t>Breast Cancer: Carcinoma in situ of breast</a:t>
            </a:r>
            <a:r>
              <a:rPr lang="it-IT" altLang="zh-CN" sz="1200" b="1" dirty="0">
                <a:solidFill>
                  <a:srgbClr val="FF0000"/>
                </a:solidFill>
              </a:rPr>
              <a:t>: </a:t>
            </a:r>
            <a:r>
              <a:rPr lang="en-US" altLang="zh-CN" sz="1200" b="1" dirty="0">
                <a:solidFill>
                  <a:srgbClr val="FF0000"/>
                </a:solidFill>
              </a:rPr>
              <a:t>Hemoglobin:</a:t>
            </a:r>
            <a:r>
              <a:rPr lang="zh-CN" altLang="en-US" sz="1200" b="1" dirty="0">
                <a:solidFill>
                  <a:srgbClr val="FF0000"/>
                </a:solidFill>
              </a:rPr>
              <a:t> </a:t>
            </a:r>
            <a:r>
              <a:rPr lang="en-US" altLang="zh-CN" sz="1200" b="1" dirty="0">
                <a:solidFill>
                  <a:srgbClr val="FF0000"/>
                </a:solidFill>
              </a:rPr>
              <a:t>Eosinophils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B939DC9E-890A-A482-7DDA-F1C72457FBD0}"/>
              </a:ext>
            </a:extLst>
          </p:cNvPr>
          <p:cNvSpPr txBox="1"/>
          <p:nvPr/>
        </p:nvSpPr>
        <p:spPr>
          <a:xfrm>
            <a:off x="6330579" y="727133"/>
            <a:ext cx="1993556" cy="1172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b="1" dirty="0">
                <a:solidFill>
                  <a:srgbClr val="FF0000"/>
                </a:solidFill>
              </a:rPr>
              <a:t>Cardiac module: I21, I20, I25, I50, I42, I70, I73.</a:t>
            </a:r>
          </a:p>
          <a:p>
            <a:pPr>
              <a:lnSpc>
                <a:spcPct val="150000"/>
              </a:lnSpc>
            </a:pPr>
            <a:r>
              <a:rPr lang="en-US" altLang="zh-CN" sz="1200" b="1" dirty="0">
                <a:solidFill>
                  <a:srgbClr val="FF0000"/>
                </a:solidFill>
              </a:rPr>
              <a:t>Mental module: F31, F32, F41, F20, F10, F43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0A3861EE-8AA3-8934-D36E-82D31EF06CDF}"/>
              </a:ext>
            </a:extLst>
          </p:cNvPr>
          <p:cNvSpPr txBox="1"/>
          <p:nvPr/>
        </p:nvSpPr>
        <p:spPr>
          <a:xfrm>
            <a:off x="6330579" y="3379239"/>
            <a:ext cx="1993556" cy="1172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b="1" dirty="0">
                <a:solidFill>
                  <a:srgbClr val="FF0000"/>
                </a:solidFill>
              </a:rPr>
              <a:t>Metabolic: E66, 29463-7, 30522-7, E52, E88.</a:t>
            </a:r>
          </a:p>
          <a:p>
            <a:pPr>
              <a:lnSpc>
                <a:spcPct val="150000"/>
              </a:lnSpc>
            </a:pPr>
            <a:r>
              <a:rPr lang="en-US" altLang="zh-CN" sz="1200" b="1" dirty="0">
                <a:solidFill>
                  <a:srgbClr val="FF0000"/>
                </a:solidFill>
              </a:rPr>
              <a:t>Inflammatory: I26, I80, I83, D68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E0729CCA-658A-7A53-D7F9-269D2D7FB2AC}"/>
              </a:ext>
            </a:extLst>
          </p:cNvPr>
          <p:cNvSpPr txBox="1"/>
          <p:nvPr/>
        </p:nvSpPr>
        <p:spPr>
          <a:xfrm>
            <a:off x="246304" y="120073"/>
            <a:ext cx="10754205" cy="46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Construct Network base on Spearman correlation</a:t>
            </a:r>
            <a:r>
              <a:rPr lang="zh-CN" altLang="en-US" b="1" dirty="0"/>
              <a:t> </a:t>
            </a:r>
            <a:r>
              <a:rPr lang="en-US" altLang="zh-CN" b="1" dirty="0"/>
              <a:t>and form clusters</a:t>
            </a:r>
          </a:p>
        </p:txBody>
      </p:sp>
    </p:spTree>
    <p:extLst>
      <p:ext uri="{BB962C8B-B14F-4D97-AF65-F5344CB8AC3E}">
        <p14:creationId xmlns:p14="http://schemas.microsoft.com/office/powerpoint/2010/main" val="317809417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909E1-D4F2-0D83-081D-97DDA463E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D62AF60-6BF5-4E7D-65A9-4B186AFA86F1}"/>
              </a:ext>
            </a:extLst>
          </p:cNvPr>
          <p:cNvSpPr txBox="1"/>
          <p:nvPr/>
        </p:nvSpPr>
        <p:spPr>
          <a:xfrm>
            <a:off x="862219" y="2442640"/>
            <a:ext cx="8505716" cy="9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2.4 Problem</a:t>
            </a:r>
          </a:p>
        </p:txBody>
      </p:sp>
    </p:spTree>
    <p:extLst>
      <p:ext uri="{BB962C8B-B14F-4D97-AF65-F5344CB8AC3E}">
        <p14:creationId xmlns:p14="http://schemas.microsoft.com/office/powerpoint/2010/main" val="96457451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FF507407-7570-E0FB-96CD-6A9EA3BCE2F7}"/>
              </a:ext>
            </a:extLst>
          </p:cNvPr>
          <p:cNvSpPr txBox="1"/>
          <p:nvPr/>
        </p:nvSpPr>
        <p:spPr>
          <a:xfrm>
            <a:off x="686342" y="693447"/>
            <a:ext cx="10517932" cy="37896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/>
              <a:t>1. Vague Trait in PGS catalog (identified by ontology): </a:t>
            </a:r>
          </a:p>
          <a:p>
            <a:pPr>
              <a:lnSpc>
                <a:spcPct val="150000"/>
              </a:lnSpc>
            </a:pPr>
            <a:r>
              <a:rPr lang="en-US" altLang="zh-CN" b="1" dirty="0"/>
              <a:t>e.g.,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Substance-related disorder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（物质相关障碍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物质使用障碍） →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F10–F19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Respiratory tract infectious disorder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（呼吸道感染性疾病） →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J00–J06 / J09–J18 / J20–J22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Respiratory system cancer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（呼吸系统癌） →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C30–C39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Peripheral nervous system disease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（周围神经系统疾病） →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G50–G64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Self-injurious behavior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（自伤行为） →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X60–X84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 tissue disease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（软组织疾病） →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M60–M79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Spondyloarthropathy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（脊柱关节病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强直性脊柱炎及相关疾病） →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M45–M49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75ED9F2-26FF-19E3-B18A-4DECF522704F}"/>
              </a:ext>
            </a:extLst>
          </p:cNvPr>
          <p:cNvSpPr txBox="1"/>
          <p:nvPr/>
        </p:nvSpPr>
        <p:spPr>
          <a:xfrm>
            <a:off x="686342" y="4781289"/>
            <a:ext cx="10517932" cy="881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/>
              <a:t>2. Particular trait performance is inconsistent: C53, C62, O14 in adjusted AUC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Checked case numbers 392, 204, 590 (relatively small but not the smallest)</a:t>
            </a:r>
          </a:p>
        </p:txBody>
      </p:sp>
    </p:spTree>
    <p:extLst>
      <p:ext uri="{BB962C8B-B14F-4D97-AF65-F5344CB8AC3E}">
        <p14:creationId xmlns:p14="http://schemas.microsoft.com/office/powerpoint/2010/main" val="80844480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11E16C46-5F63-9B61-13A1-C6A167687CB8}"/>
              </a:ext>
            </a:extLst>
          </p:cNvPr>
          <p:cNvSpPr txBox="1"/>
          <p:nvPr/>
        </p:nvSpPr>
        <p:spPr>
          <a:xfrm>
            <a:off x="242997" y="205905"/>
            <a:ext cx="11301704" cy="465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/>
              <a:t>3. Performance metrics are not consistent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AB47704-0AD6-3653-D604-EFDBDDF26F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39850"/>
            <a:ext cx="12192000" cy="191575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C4E7FD5-82F4-91EF-FB5D-C2B743DBFC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0964" y="4225872"/>
            <a:ext cx="2954127" cy="242622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37A9CEA-B9EE-3321-5A55-856C752C62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997" y="4225871"/>
            <a:ext cx="2954127" cy="2426224"/>
          </a:xfrm>
          <a:prstGeom prst="rect">
            <a:avLst/>
          </a:prstGeom>
        </p:spPr>
      </p:pic>
      <p:cxnSp>
        <p:nvCxnSpPr>
          <p:cNvPr id="10" name="直接箭头连接符 8">
            <a:extLst>
              <a:ext uri="{FF2B5EF4-FFF2-40B4-BE49-F238E27FC236}">
                <a16:creationId xmlns:a16="http://schemas.microsoft.com/office/drawing/2014/main" id="{E7E789B3-881C-C053-DA6E-D70609A0EBE6}"/>
              </a:ext>
            </a:extLst>
          </p:cNvPr>
          <p:cNvCxnSpPr>
            <a:cxnSpLocks/>
          </p:cNvCxnSpPr>
          <p:nvPr/>
        </p:nvCxnSpPr>
        <p:spPr>
          <a:xfrm>
            <a:off x="3935514" y="5438983"/>
            <a:ext cx="54412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258511E6-CF16-9D49-F7E2-931B53CF151D}"/>
              </a:ext>
            </a:extLst>
          </p:cNvPr>
          <p:cNvSpPr txBox="1"/>
          <p:nvPr/>
        </p:nvSpPr>
        <p:spPr>
          <a:xfrm>
            <a:off x="3455743" y="5503874"/>
            <a:ext cx="16633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Correlation becomes not significant</a:t>
            </a:r>
            <a:endParaRPr lang="zh-CN" altLang="en-US" sz="1200" b="1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78A25A5-1A01-2FD8-EC8F-58D463E70357}"/>
              </a:ext>
            </a:extLst>
          </p:cNvPr>
          <p:cNvSpPr txBox="1"/>
          <p:nvPr/>
        </p:nvSpPr>
        <p:spPr>
          <a:xfrm>
            <a:off x="242997" y="863497"/>
            <a:ext cx="10754205" cy="46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/>
              <a:t>Change Incremental R2 – Adjusted Beta</a:t>
            </a:r>
          </a:p>
        </p:txBody>
      </p:sp>
    </p:spTree>
    <p:extLst>
      <p:ext uri="{BB962C8B-B14F-4D97-AF65-F5344CB8AC3E}">
        <p14:creationId xmlns:p14="http://schemas.microsoft.com/office/powerpoint/2010/main" val="184742434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3B6E4A10-F2BC-15D4-7150-75C511BFE421}"/>
              </a:ext>
            </a:extLst>
          </p:cNvPr>
          <p:cNvSpPr txBox="1"/>
          <p:nvPr/>
        </p:nvSpPr>
        <p:spPr>
          <a:xfrm>
            <a:off x="862219" y="2442640"/>
            <a:ext cx="8505716" cy="9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Auxiliary Information</a:t>
            </a:r>
          </a:p>
        </p:txBody>
      </p:sp>
    </p:spTree>
    <p:extLst>
      <p:ext uri="{BB962C8B-B14F-4D97-AF65-F5344CB8AC3E}">
        <p14:creationId xmlns:p14="http://schemas.microsoft.com/office/powerpoint/2010/main" val="164776428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076CF-0AA5-7919-CFFA-D5ABEB106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4CC36FAF-CD5A-DBBA-547A-C6778D97F54E}"/>
              </a:ext>
            </a:extLst>
          </p:cNvPr>
          <p:cNvSpPr txBox="1"/>
          <p:nvPr/>
        </p:nvSpPr>
        <p:spPr>
          <a:xfrm>
            <a:off x="89286" y="1376217"/>
            <a:ext cx="3435280" cy="29586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PRS performance meets expectations on target traits.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PRS performance across traits shows genetic correlation between traits.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Some traits have abnormal PRS results, e.g., O14, C62</a:t>
            </a:r>
            <a:endParaRPr lang="zh-CN" altLang="en-US" b="1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0DAE386-8B87-59F3-7646-6E3CDD1198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8755" y="0"/>
            <a:ext cx="8513245" cy="685800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847CEE89-A627-48AF-D92A-2FDD7A209FD8}"/>
              </a:ext>
            </a:extLst>
          </p:cNvPr>
          <p:cNvSpPr txBox="1"/>
          <p:nvPr/>
        </p:nvSpPr>
        <p:spPr>
          <a:xfrm>
            <a:off x="237068" y="699795"/>
            <a:ext cx="25659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Avg PRS Performance</a:t>
            </a:r>
            <a:endParaRPr lang="zh-CN" altLang="en-US" b="1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07FEDEA-FC1C-A6E1-A50F-813BF10305A5}"/>
              </a:ext>
            </a:extLst>
          </p:cNvPr>
          <p:cNvSpPr txBox="1"/>
          <p:nvPr/>
        </p:nvSpPr>
        <p:spPr>
          <a:xfrm>
            <a:off x="237068" y="111529"/>
            <a:ext cx="2963332" cy="465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FF0000"/>
                </a:solidFill>
              </a:rPr>
              <a:t>Root ICD Code Results</a:t>
            </a:r>
          </a:p>
        </p:txBody>
      </p:sp>
    </p:spTree>
    <p:extLst>
      <p:ext uri="{BB962C8B-B14F-4D97-AF65-F5344CB8AC3E}">
        <p14:creationId xmlns:p14="http://schemas.microsoft.com/office/powerpoint/2010/main" val="315178481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B853F6F-7811-F6C3-B6A9-DC01882F48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2768" y="0"/>
            <a:ext cx="8329232" cy="68580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98CE1F1B-8A7C-F8AF-A49C-34EC9949063D}"/>
              </a:ext>
            </a:extLst>
          </p:cNvPr>
          <p:cNvSpPr txBox="1"/>
          <p:nvPr/>
        </p:nvSpPr>
        <p:spPr>
          <a:xfrm>
            <a:off x="237068" y="699795"/>
            <a:ext cx="25659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Avg PRS Performance</a:t>
            </a:r>
            <a:endParaRPr lang="zh-CN" altLang="en-US" b="1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CB3B0A5-A2C4-77BC-D80A-6698D86B2554}"/>
              </a:ext>
            </a:extLst>
          </p:cNvPr>
          <p:cNvSpPr txBox="1"/>
          <p:nvPr/>
        </p:nvSpPr>
        <p:spPr>
          <a:xfrm>
            <a:off x="237068" y="111529"/>
            <a:ext cx="2963332" cy="465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FF0000"/>
                </a:solidFill>
              </a:rPr>
              <a:t>Children ICD Code Results</a:t>
            </a:r>
          </a:p>
        </p:txBody>
      </p:sp>
    </p:spTree>
    <p:extLst>
      <p:ext uri="{BB962C8B-B14F-4D97-AF65-F5344CB8AC3E}">
        <p14:creationId xmlns:p14="http://schemas.microsoft.com/office/powerpoint/2010/main" val="391538268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>
            <a:extLst>
              <a:ext uri="{FF2B5EF4-FFF2-40B4-BE49-F238E27FC236}">
                <a16:creationId xmlns:a16="http://schemas.microsoft.com/office/drawing/2014/main" id="{A1483714-2CF1-78A3-9657-4BDFE985B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1707" y="2029064"/>
            <a:ext cx="3947863" cy="3118538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0286D4E4-6FBB-D06A-5172-D6477277A5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9797" y="2032016"/>
            <a:ext cx="3851910" cy="3118539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14B331B7-AAA9-80CE-6001-965EEEAF9F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720" y="2032017"/>
            <a:ext cx="3797077" cy="3118539"/>
          </a:xfrm>
          <a:prstGeom prst="rect">
            <a:avLst/>
          </a:prstGeom>
        </p:spPr>
      </p:pic>
      <p:sp>
        <p:nvSpPr>
          <p:cNvPr id="5" name="文本框 7">
            <a:extLst>
              <a:ext uri="{FF2B5EF4-FFF2-40B4-BE49-F238E27FC236}">
                <a16:creationId xmlns:a16="http://schemas.microsoft.com/office/drawing/2014/main" id="{5543E724-8D61-13E8-7921-4BD2944296A7}"/>
              </a:ext>
            </a:extLst>
          </p:cNvPr>
          <p:cNvSpPr txBox="1"/>
          <p:nvPr/>
        </p:nvSpPr>
        <p:spPr>
          <a:xfrm>
            <a:off x="3349801" y="3715582"/>
            <a:ext cx="5193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O14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cxnSp>
        <p:nvCxnSpPr>
          <p:cNvPr id="6" name="直接箭头连接符 8">
            <a:extLst>
              <a:ext uri="{FF2B5EF4-FFF2-40B4-BE49-F238E27FC236}">
                <a16:creationId xmlns:a16="http://schemas.microsoft.com/office/drawing/2014/main" id="{871C42DF-0F5E-D1B4-5B0B-CB2A25803A45}"/>
              </a:ext>
            </a:extLst>
          </p:cNvPr>
          <p:cNvCxnSpPr>
            <a:cxnSpLocks/>
          </p:cNvCxnSpPr>
          <p:nvPr/>
        </p:nvCxnSpPr>
        <p:spPr>
          <a:xfrm>
            <a:off x="3609474" y="4023360"/>
            <a:ext cx="187011" cy="38605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7">
            <a:extLst>
              <a:ext uri="{FF2B5EF4-FFF2-40B4-BE49-F238E27FC236}">
                <a16:creationId xmlns:a16="http://schemas.microsoft.com/office/drawing/2014/main" id="{D0050566-395F-FBF0-A3A9-04C184DB60A5}"/>
              </a:ext>
            </a:extLst>
          </p:cNvPr>
          <p:cNvSpPr txBox="1"/>
          <p:nvPr/>
        </p:nvSpPr>
        <p:spPr>
          <a:xfrm>
            <a:off x="2905172" y="3715582"/>
            <a:ext cx="5193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C62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cxnSp>
        <p:nvCxnSpPr>
          <p:cNvPr id="12" name="直接箭头连接符 8">
            <a:extLst>
              <a:ext uri="{FF2B5EF4-FFF2-40B4-BE49-F238E27FC236}">
                <a16:creationId xmlns:a16="http://schemas.microsoft.com/office/drawing/2014/main" id="{53EC88C1-C32F-BAAA-9CA2-4F44C5CD21B6}"/>
              </a:ext>
            </a:extLst>
          </p:cNvPr>
          <p:cNvCxnSpPr>
            <a:cxnSpLocks/>
          </p:cNvCxnSpPr>
          <p:nvPr/>
        </p:nvCxnSpPr>
        <p:spPr>
          <a:xfrm>
            <a:off x="3164845" y="4023360"/>
            <a:ext cx="481882" cy="47163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8">
            <a:extLst>
              <a:ext uri="{FF2B5EF4-FFF2-40B4-BE49-F238E27FC236}">
                <a16:creationId xmlns:a16="http://schemas.microsoft.com/office/drawing/2014/main" id="{71733847-564A-05A5-29DC-FA4EB03708E6}"/>
              </a:ext>
            </a:extLst>
          </p:cNvPr>
          <p:cNvCxnSpPr>
            <a:cxnSpLocks/>
          </p:cNvCxnSpPr>
          <p:nvPr/>
        </p:nvCxnSpPr>
        <p:spPr>
          <a:xfrm flipH="1">
            <a:off x="4753436" y="4149572"/>
            <a:ext cx="267711" cy="34542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7">
            <a:extLst>
              <a:ext uri="{FF2B5EF4-FFF2-40B4-BE49-F238E27FC236}">
                <a16:creationId xmlns:a16="http://schemas.microsoft.com/office/drawing/2014/main" id="{EE6AD0F8-E687-6C23-06C2-FB212894EF35}"/>
              </a:ext>
            </a:extLst>
          </p:cNvPr>
          <p:cNvSpPr txBox="1"/>
          <p:nvPr/>
        </p:nvSpPr>
        <p:spPr>
          <a:xfrm>
            <a:off x="4803079" y="3768972"/>
            <a:ext cx="5193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O14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sp>
        <p:nvSpPr>
          <p:cNvPr id="17" name="文本框 7">
            <a:extLst>
              <a:ext uri="{FF2B5EF4-FFF2-40B4-BE49-F238E27FC236}">
                <a16:creationId xmlns:a16="http://schemas.microsoft.com/office/drawing/2014/main" id="{973E8603-C887-E5BF-0D40-B433C872EA12}"/>
              </a:ext>
            </a:extLst>
          </p:cNvPr>
          <p:cNvSpPr txBox="1"/>
          <p:nvPr/>
        </p:nvSpPr>
        <p:spPr>
          <a:xfrm>
            <a:off x="5301359" y="4149572"/>
            <a:ext cx="5193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C62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cxnSp>
        <p:nvCxnSpPr>
          <p:cNvPr id="18" name="直接箭头连接符 8">
            <a:extLst>
              <a:ext uri="{FF2B5EF4-FFF2-40B4-BE49-F238E27FC236}">
                <a16:creationId xmlns:a16="http://schemas.microsoft.com/office/drawing/2014/main" id="{C81E9AA8-B339-396F-EC0F-62C96AC87897}"/>
              </a:ext>
            </a:extLst>
          </p:cNvPr>
          <p:cNvCxnSpPr>
            <a:cxnSpLocks/>
          </p:cNvCxnSpPr>
          <p:nvPr/>
        </p:nvCxnSpPr>
        <p:spPr>
          <a:xfrm flipH="1">
            <a:off x="5003912" y="4409412"/>
            <a:ext cx="405960" cy="16065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8">
            <a:extLst>
              <a:ext uri="{FF2B5EF4-FFF2-40B4-BE49-F238E27FC236}">
                <a16:creationId xmlns:a16="http://schemas.microsoft.com/office/drawing/2014/main" id="{14ED26C8-D4FF-03A6-98A4-64E936D69FF7}"/>
              </a:ext>
            </a:extLst>
          </p:cNvPr>
          <p:cNvCxnSpPr>
            <a:cxnSpLocks/>
          </p:cNvCxnSpPr>
          <p:nvPr/>
        </p:nvCxnSpPr>
        <p:spPr>
          <a:xfrm>
            <a:off x="11442417" y="4076749"/>
            <a:ext cx="173797" cy="38463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7">
            <a:extLst>
              <a:ext uri="{FF2B5EF4-FFF2-40B4-BE49-F238E27FC236}">
                <a16:creationId xmlns:a16="http://schemas.microsoft.com/office/drawing/2014/main" id="{E9DCBBB3-5898-7A27-9824-FE19049F29F7}"/>
              </a:ext>
            </a:extLst>
          </p:cNvPr>
          <p:cNvSpPr txBox="1"/>
          <p:nvPr/>
        </p:nvSpPr>
        <p:spPr>
          <a:xfrm>
            <a:off x="11153720" y="3715582"/>
            <a:ext cx="5193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O14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sp>
        <p:nvSpPr>
          <p:cNvPr id="23" name="文本框 7">
            <a:extLst>
              <a:ext uri="{FF2B5EF4-FFF2-40B4-BE49-F238E27FC236}">
                <a16:creationId xmlns:a16="http://schemas.microsoft.com/office/drawing/2014/main" id="{75E8CE1A-DF06-B6ED-CE92-CD2F2D7CACA3}"/>
              </a:ext>
            </a:extLst>
          </p:cNvPr>
          <p:cNvSpPr txBox="1"/>
          <p:nvPr/>
        </p:nvSpPr>
        <p:spPr>
          <a:xfrm>
            <a:off x="10622170" y="4023359"/>
            <a:ext cx="5193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C62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cxnSp>
        <p:nvCxnSpPr>
          <p:cNvPr id="24" name="直接箭头连接符 8">
            <a:extLst>
              <a:ext uri="{FF2B5EF4-FFF2-40B4-BE49-F238E27FC236}">
                <a16:creationId xmlns:a16="http://schemas.microsoft.com/office/drawing/2014/main" id="{CCE3A5B5-4EFD-76A9-0A08-5D4AD39FE2C4}"/>
              </a:ext>
            </a:extLst>
          </p:cNvPr>
          <p:cNvCxnSpPr>
            <a:cxnSpLocks/>
          </p:cNvCxnSpPr>
          <p:nvPr/>
        </p:nvCxnSpPr>
        <p:spPr>
          <a:xfrm>
            <a:off x="11034654" y="4331136"/>
            <a:ext cx="378739" cy="15860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76F63366-3442-8BEA-6BF7-575B833A4BD4}"/>
              </a:ext>
            </a:extLst>
          </p:cNvPr>
          <p:cNvSpPr txBox="1"/>
          <p:nvPr/>
        </p:nvSpPr>
        <p:spPr>
          <a:xfrm>
            <a:off x="237068" y="1164085"/>
            <a:ext cx="6120580" cy="465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Some traits have abnormal PRS results, e.g., O14, C62</a:t>
            </a:r>
            <a:endParaRPr lang="zh-CN" altLang="en-US" b="1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54D1428-737A-5DD0-F036-7AB271F678F6}"/>
              </a:ext>
            </a:extLst>
          </p:cNvPr>
          <p:cNvSpPr txBox="1"/>
          <p:nvPr/>
        </p:nvSpPr>
        <p:spPr>
          <a:xfrm>
            <a:off x="237068" y="111529"/>
            <a:ext cx="2963332" cy="465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FF0000"/>
                </a:solidFill>
              </a:rPr>
              <a:t>Root ICD Code Results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7FAA14D-4230-52A1-254C-98A24AA61B7C}"/>
              </a:ext>
            </a:extLst>
          </p:cNvPr>
          <p:cNvSpPr txBox="1"/>
          <p:nvPr/>
        </p:nvSpPr>
        <p:spPr>
          <a:xfrm>
            <a:off x="237068" y="699795"/>
            <a:ext cx="4916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Best / Worst / Range of all available PGS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78307335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C57EE6B-C8E4-0B4C-1F33-66E10C73A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029727"/>
            <a:ext cx="3094824" cy="233862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E99C2D7-61DE-D528-9F00-B5FCE5DAB8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3873" y="1005259"/>
            <a:ext cx="3096793" cy="236309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4406214-6F75-F76F-81E4-06B2271A91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4032" y="1005259"/>
            <a:ext cx="3053464" cy="233862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777C7FB-323C-1AAC-48CE-AC65348C59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2528" y="1005260"/>
            <a:ext cx="3089472" cy="230529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A041506-6D15-AE35-C998-220FF5935D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429000"/>
            <a:ext cx="3056711" cy="236309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904FC5F8-AA50-70EC-1340-8E7D5959D0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94825" y="3429000"/>
            <a:ext cx="2999207" cy="2351491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3B366753-42C8-C78B-1ED9-D6E8ABFDF1F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4032" y="3453468"/>
            <a:ext cx="3102448" cy="2338623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2C051E66-0DCD-CF37-5D2B-51E48E7E1B1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7497" y="3453469"/>
            <a:ext cx="3044504" cy="2322562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AF0033A7-77B1-43AF-323A-3F89678FC6AE}"/>
              </a:ext>
            </a:extLst>
          </p:cNvPr>
          <p:cNvSpPr txBox="1"/>
          <p:nvPr/>
        </p:nvSpPr>
        <p:spPr>
          <a:xfrm>
            <a:off x="3466704" y="595321"/>
            <a:ext cx="2251129" cy="379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/>
              <a:t>lymphoid leukemia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810501C-30DD-DE8C-B729-EA19ECD2E091}"/>
              </a:ext>
            </a:extLst>
          </p:cNvPr>
          <p:cNvSpPr txBox="1"/>
          <p:nvPr/>
        </p:nvSpPr>
        <p:spPr>
          <a:xfrm>
            <a:off x="4351150" y="147187"/>
            <a:ext cx="7210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congenital vitamin k-dependent coagulation factors deficiency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A2B34D8-E32C-0507-DCBF-16BCB5332CCE}"/>
              </a:ext>
            </a:extLst>
          </p:cNvPr>
          <p:cNvSpPr txBox="1"/>
          <p:nvPr/>
        </p:nvSpPr>
        <p:spPr>
          <a:xfrm>
            <a:off x="9898709" y="574132"/>
            <a:ext cx="1542080" cy="373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/>
              <a:t>sarcoidosis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C92A7BD-F42E-366E-B28E-0F0F052FCAB7}"/>
              </a:ext>
            </a:extLst>
          </p:cNvPr>
          <p:cNvSpPr txBox="1"/>
          <p:nvPr/>
        </p:nvSpPr>
        <p:spPr>
          <a:xfrm>
            <a:off x="693549" y="5852741"/>
            <a:ext cx="18636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Hypothyroidism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40CC291-7A65-5470-F7E4-A002D5711558}"/>
              </a:ext>
            </a:extLst>
          </p:cNvPr>
          <p:cNvSpPr txBox="1"/>
          <p:nvPr/>
        </p:nvSpPr>
        <p:spPr>
          <a:xfrm>
            <a:off x="3094825" y="5893347"/>
            <a:ext cx="32275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Nontoxic multinodular goiter</a:t>
            </a:r>
          </a:p>
        </p:txBody>
      </p:sp>
    </p:spTree>
    <p:extLst>
      <p:ext uri="{BB962C8B-B14F-4D97-AF65-F5344CB8AC3E}">
        <p14:creationId xmlns:p14="http://schemas.microsoft.com/office/powerpoint/2010/main" val="197804651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808DEF8-896F-F0D7-D0B1-CD3C59E81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0" y="1203901"/>
            <a:ext cx="2933700" cy="225422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042D07F-6E12-0FB4-9CB2-FA521D9121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3250" y="1177714"/>
            <a:ext cx="3019425" cy="226114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C03769F-5448-FE25-C2B0-7DFABA9174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2675" y="1203901"/>
            <a:ext cx="2933700" cy="220592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599DDFA-39C5-E7AB-80B3-951F7FF429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6375" y="1203901"/>
            <a:ext cx="2933700" cy="2225099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4A4586F5-CDDD-4AA1-AA09-833FF4AA2C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824" y="3484308"/>
            <a:ext cx="3019425" cy="2325144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DA18BD69-4916-E9FC-2347-488CE30C40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43249" y="3484308"/>
            <a:ext cx="3020121" cy="2229894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7C13C269-8A48-D099-64C6-3FFEA74B854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2674" y="3484308"/>
            <a:ext cx="2933701" cy="2261965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78672AE3-1477-8E4F-C350-F5C5630E25D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96375" y="3471975"/>
            <a:ext cx="2933700" cy="225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1469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5541</TotalTime>
  <Words>2040</Words>
  <Application>Microsoft Office PowerPoint</Application>
  <PresentationFormat>宽屏</PresentationFormat>
  <Paragraphs>232</Paragraphs>
  <Slides>58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58</vt:i4>
      </vt:variant>
    </vt:vector>
  </HeadingPairs>
  <TitlesOfParts>
    <vt:vector size="64" baseType="lpstr">
      <vt:lpstr>等线</vt:lpstr>
      <vt:lpstr>等线 Light</vt:lpstr>
      <vt:lpstr>Arial</vt:lpstr>
      <vt:lpstr>Helvetica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 Jiyao</dc:creator>
  <cp:lastModifiedBy>Zhang Jiyao</cp:lastModifiedBy>
  <cp:revision>122</cp:revision>
  <dcterms:created xsi:type="dcterms:W3CDTF">2026-02-15T19:27:28Z</dcterms:created>
  <dcterms:modified xsi:type="dcterms:W3CDTF">2026-03-13T03:30:04Z</dcterms:modified>
</cp:coreProperties>
</file>